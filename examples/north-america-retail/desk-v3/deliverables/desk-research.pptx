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5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7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8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9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0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1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slides/charts/chart12.xml" ContentType="application/vnd.openxmlformats-officedocument.drawingml.char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3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c9bad3cd943f9" /><Relationship Type="http://schemas.openxmlformats.org/officeDocument/2006/relationships/extended-properties" Target="/docProps/app.xml" Id="R2eb010552b7443f1" /><Relationship Type="http://schemas.openxmlformats.org/officeDocument/2006/relationships/officeDocument" Target="/ppt/presentation.xml" Id="R22d90b705f0d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08bc588a554802"/>
  </p:sldMasterIdLst>
  <p:notesMasterIdLst>
    <p:notesMasterId xmlns:r="http://schemas.openxmlformats.org/officeDocument/2006/relationships" r:id="Ra3303c1612b54530"/>
  </p:notesMasterIdLst>
  <p:sldIdLst>
    <p:sldId xmlns:r="http://schemas.openxmlformats.org/officeDocument/2006/relationships" id="256" r:id="R087c88f1ffba41e5"/>
    <p:sldId xmlns:r="http://schemas.openxmlformats.org/officeDocument/2006/relationships" id="257" r:id="R95a2c70bd2614710"/>
    <p:sldId xmlns:r="http://schemas.openxmlformats.org/officeDocument/2006/relationships" id="258" r:id="Rec2588d777a14cf3"/>
    <p:sldId xmlns:r="http://schemas.openxmlformats.org/officeDocument/2006/relationships" id="259" r:id="Rb0eee6a39db74c75"/>
    <p:sldId xmlns:r="http://schemas.openxmlformats.org/officeDocument/2006/relationships" id="260" r:id="Rdfdc74ccd7bd4e65"/>
    <p:sldId xmlns:r="http://schemas.openxmlformats.org/officeDocument/2006/relationships" id="261" r:id="R4c5efa5be68d4fa5"/>
    <p:sldId xmlns:r="http://schemas.openxmlformats.org/officeDocument/2006/relationships" id="262" r:id="R957725ff5c3e4c3d"/>
    <p:sldId xmlns:r="http://schemas.openxmlformats.org/officeDocument/2006/relationships" id="263" r:id="R68926c7adb6d4995"/>
    <p:sldId xmlns:r="http://schemas.openxmlformats.org/officeDocument/2006/relationships" id="264" r:id="Rcd171e99afd04162"/>
    <p:sldId xmlns:r="http://schemas.openxmlformats.org/officeDocument/2006/relationships" id="265" r:id="Rd4cb2b2f41094295"/>
    <p:sldId xmlns:r="http://schemas.openxmlformats.org/officeDocument/2006/relationships" id="266" r:id="Rcd9c42a8e848466e"/>
    <p:sldId xmlns:r="http://schemas.openxmlformats.org/officeDocument/2006/relationships" id="267" r:id="Rb314ce52f8f54ae7"/>
    <p:sldId xmlns:r="http://schemas.openxmlformats.org/officeDocument/2006/relationships" id="268" r:id="R0faa02f4f3494382"/>
    <p:sldId xmlns:r="http://schemas.openxmlformats.org/officeDocument/2006/relationships" id="269" r:id="R213d031dc2a643ad"/>
    <p:sldId xmlns:r="http://schemas.openxmlformats.org/officeDocument/2006/relationships" id="270" r:id="R2b717ccbb1d348eb"/>
    <p:sldId xmlns:r="http://schemas.openxmlformats.org/officeDocument/2006/relationships" id="271" r:id="R0dbdc2c2bd7a4890"/>
    <p:sldId xmlns:r="http://schemas.openxmlformats.org/officeDocument/2006/relationships" id="272" r:id="Rd5903ba2489043c2"/>
    <p:sldId xmlns:r="http://schemas.openxmlformats.org/officeDocument/2006/relationships" id="273" r:id="R1c9db27bc54e4ca8"/>
    <p:sldId xmlns:r="http://schemas.openxmlformats.org/officeDocument/2006/relationships" id="274" r:id="R9577aba565ce4599"/>
    <p:sldId xmlns:r="http://schemas.openxmlformats.org/officeDocument/2006/relationships" id="275" r:id="R762f9d9d2d354eba"/>
    <p:sldId xmlns:r="http://schemas.openxmlformats.org/officeDocument/2006/relationships" id="276" r:id="R2804f18dd9744f91"/>
    <p:sldId xmlns:r="http://schemas.openxmlformats.org/officeDocument/2006/relationships" id="277" r:id="R6c6a4df71d774c22"/>
    <p:sldId xmlns:r="http://schemas.openxmlformats.org/officeDocument/2006/relationships" id="278" r:id="Rbb4fc9e80bed44d6"/>
    <p:sldId xmlns:r="http://schemas.openxmlformats.org/officeDocument/2006/relationships" id="279" r:id="Rf502167e02d14431"/>
    <p:sldId xmlns:r="http://schemas.openxmlformats.org/officeDocument/2006/relationships" id="280" r:id="R5625ba66371e48f1"/>
    <p:sldId xmlns:r="http://schemas.openxmlformats.org/officeDocument/2006/relationships" id="281" r:id="R7314523a0f1e4671"/>
    <p:sldId xmlns:r="http://schemas.openxmlformats.org/officeDocument/2006/relationships" id="282" r:id="Rc4329134de444984"/>
    <p:sldId xmlns:r="http://schemas.openxmlformats.org/officeDocument/2006/relationships" id="283" r:id="Rf91a93f5e861490c"/>
    <p:sldId xmlns:r="http://schemas.openxmlformats.org/officeDocument/2006/relationships" id="284" r:id="Rab58de332fd441e5"/>
    <p:sldId xmlns:r="http://schemas.openxmlformats.org/officeDocument/2006/relationships" id="285" r:id="R10b34477416c4014"/>
    <p:sldId xmlns:r="http://schemas.openxmlformats.org/officeDocument/2006/relationships" id="286" r:id="R9cc69812e5c74a05"/>
    <p:sldId xmlns:r="http://schemas.openxmlformats.org/officeDocument/2006/relationships" id="287" r:id="R75b2bb74e74644e5"/>
    <p:sldId xmlns:r="http://schemas.openxmlformats.org/officeDocument/2006/relationships" id="288" r:id="Rde3550742fd648ee"/>
    <p:sldId xmlns:r="http://schemas.openxmlformats.org/officeDocument/2006/relationships" id="289" r:id="R2fdbd246244c492e"/>
    <p:sldId xmlns:r="http://schemas.openxmlformats.org/officeDocument/2006/relationships" id="290" r:id="Rc3f2af0d06064a37"/>
    <p:sldId xmlns:r="http://schemas.openxmlformats.org/officeDocument/2006/relationships" id="291" r:id="Rd737d9f9af31475f"/>
    <p:sldId xmlns:r="http://schemas.openxmlformats.org/officeDocument/2006/relationships" id="292" r:id="R23a2e72b991f4998"/>
    <p:sldId xmlns:r="http://schemas.openxmlformats.org/officeDocument/2006/relationships" id="293" r:id="R8078c1ae33f046f4"/>
    <p:sldId xmlns:r="http://schemas.openxmlformats.org/officeDocument/2006/relationships" id="294" r:id="R7aaa4246571f4bcb"/>
    <p:sldId xmlns:r="http://schemas.openxmlformats.org/officeDocument/2006/relationships" id="295" r:id="R8e7ade1ef2994e58"/>
    <p:sldId xmlns:r="http://schemas.openxmlformats.org/officeDocument/2006/relationships" id="296" r:id="R4e96f7c1a606410c"/>
    <p:sldId xmlns:r="http://schemas.openxmlformats.org/officeDocument/2006/relationships" id="297" r:id="Rfa51752c227f46e6"/>
    <p:sldId xmlns:r="http://schemas.openxmlformats.org/officeDocument/2006/relationships" id="298" r:id="Rf15e8a81b5a0437c"/>
    <p:sldId xmlns:r="http://schemas.openxmlformats.org/officeDocument/2006/relationships" id="299" r:id="R0adf8d5afbd940c5"/>
    <p:sldId xmlns:r="http://schemas.openxmlformats.org/officeDocument/2006/relationships" id="300" r:id="R484590b455ec44a4"/>
    <p:sldId xmlns:r="http://schemas.openxmlformats.org/officeDocument/2006/relationships" id="301" r:id="Rbfdb4b22ba4749a5"/>
    <p:sldId xmlns:r="http://schemas.openxmlformats.org/officeDocument/2006/relationships" id="302" r:id="R6a327d9f8bbb4cf0"/>
    <p:sldId xmlns:r="http://schemas.openxmlformats.org/officeDocument/2006/relationships" id="303" r:id="Ra8eff1dcb16549fe"/>
    <p:sldId xmlns:r="http://schemas.openxmlformats.org/officeDocument/2006/relationships" id="304" r:id="R531f5aa42d4144b5"/>
    <p:sldId xmlns:r="http://schemas.openxmlformats.org/officeDocument/2006/relationships" id="305" r:id="R5f51222927b24045"/>
    <p:sldId xmlns:r="http://schemas.openxmlformats.org/officeDocument/2006/relationships" id="306" r:id="R5ebaef4ad1fc460f"/>
    <p:sldId xmlns:r="http://schemas.openxmlformats.org/officeDocument/2006/relationships" id="307" r:id="R7de912ce025e48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5180665c2e4837" /><Relationship Type="http://schemas.openxmlformats.org/officeDocument/2006/relationships/slideMaster" Target="/ppt/slideMasters/slideMaster1.xml" Id="R5f08bc588a554802" /><Relationship Type="http://schemas.openxmlformats.org/officeDocument/2006/relationships/notesMaster" Target="/ppt/notesMasters/notesMaster1.xml" Id="Ra3303c1612b54530" /><Relationship Type="http://schemas.openxmlformats.org/officeDocument/2006/relationships/presProps" Target="/ppt/presProps.xml" Id="Ra48a1aaa4f324050" /><Relationship Type="http://schemas.openxmlformats.org/officeDocument/2006/relationships/tableStyles" Target="/ppt/tableStyles.xml" Id="R8d7089bf1f604978" /><Relationship Type="http://schemas.openxmlformats.org/officeDocument/2006/relationships/slide" Target="/ppt/slides/slide1.xml" Id="R087c88f1ffba41e5" /><Relationship Type="http://schemas.openxmlformats.org/officeDocument/2006/relationships/slide" Target="/ppt/slides/slide2.xml" Id="R95a2c70bd2614710" /><Relationship Type="http://schemas.openxmlformats.org/officeDocument/2006/relationships/slide" Target="/ppt/slides/slide3.xml" Id="Rec2588d777a14cf3" /><Relationship Type="http://schemas.openxmlformats.org/officeDocument/2006/relationships/slide" Target="/ppt/slides/slide4.xml" Id="Rb0eee6a39db74c75" /><Relationship Type="http://schemas.openxmlformats.org/officeDocument/2006/relationships/slide" Target="/ppt/slides/slide5.xml" Id="Rdfdc74ccd7bd4e65" /><Relationship Type="http://schemas.openxmlformats.org/officeDocument/2006/relationships/slide" Target="/ppt/slides/slide6.xml" Id="R4c5efa5be68d4fa5" /><Relationship Type="http://schemas.openxmlformats.org/officeDocument/2006/relationships/slide" Target="/ppt/slides/slide7.xml" Id="R957725ff5c3e4c3d" /><Relationship Type="http://schemas.openxmlformats.org/officeDocument/2006/relationships/slide" Target="/ppt/slides/slide8.xml" Id="R68926c7adb6d4995" /><Relationship Type="http://schemas.openxmlformats.org/officeDocument/2006/relationships/slide" Target="/ppt/slides/slide9.xml" Id="Rcd171e99afd04162" /><Relationship Type="http://schemas.openxmlformats.org/officeDocument/2006/relationships/slide" Target="/ppt/slides/slide10.xml" Id="Rd4cb2b2f41094295" /><Relationship Type="http://schemas.openxmlformats.org/officeDocument/2006/relationships/slide" Target="/ppt/slides/slide11.xml" Id="Rcd9c42a8e848466e" /><Relationship Type="http://schemas.openxmlformats.org/officeDocument/2006/relationships/slide" Target="/ppt/slides/slide12.xml" Id="Rb314ce52f8f54ae7" /><Relationship Type="http://schemas.openxmlformats.org/officeDocument/2006/relationships/slide" Target="/ppt/slides/slide13.xml" Id="R0faa02f4f3494382" /><Relationship Type="http://schemas.openxmlformats.org/officeDocument/2006/relationships/slide" Target="/ppt/slides/slide14.xml" Id="R213d031dc2a643ad" /><Relationship Type="http://schemas.openxmlformats.org/officeDocument/2006/relationships/slide" Target="/ppt/slides/slide15.xml" Id="R2b717ccbb1d348eb" /><Relationship Type="http://schemas.openxmlformats.org/officeDocument/2006/relationships/slide" Target="/ppt/slides/slide16.xml" Id="R0dbdc2c2bd7a4890" /><Relationship Type="http://schemas.openxmlformats.org/officeDocument/2006/relationships/slide" Target="/ppt/slides/slide17.xml" Id="Rd5903ba2489043c2" /><Relationship Type="http://schemas.openxmlformats.org/officeDocument/2006/relationships/slide" Target="/ppt/slides/slide18.xml" Id="R1c9db27bc54e4ca8" /><Relationship Type="http://schemas.openxmlformats.org/officeDocument/2006/relationships/slide" Target="/ppt/slides/slide19.xml" Id="R9577aba565ce4599" /><Relationship Type="http://schemas.openxmlformats.org/officeDocument/2006/relationships/slide" Target="/ppt/slides/slide20.xml" Id="R762f9d9d2d354eba" /><Relationship Type="http://schemas.openxmlformats.org/officeDocument/2006/relationships/slide" Target="/ppt/slides/slide21.xml" Id="R2804f18dd9744f91" /><Relationship Type="http://schemas.openxmlformats.org/officeDocument/2006/relationships/slide" Target="/ppt/slides/slide22.xml" Id="R6c6a4df71d774c22" /><Relationship Type="http://schemas.openxmlformats.org/officeDocument/2006/relationships/slide" Target="/ppt/slides/slide23.xml" Id="Rbb4fc9e80bed44d6" /><Relationship Type="http://schemas.openxmlformats.org/officeDocument/2006/relationships/slide" Target="/ppt/slides/slide24.xml" Id="Rf502167e02d14431" /><Relationship Type="http://schemas.openxmlformats.org/officeDocument/2006/relationships/slide" Target="/ppt/slides/slide25.xml" Id="R5625ba66371e48f1" /><Relationship Type="http://schemas.openxmlformats.org/officeDocument/2006/relationships/slide" Target="/ppt/slides/slide26.xml" Id="R7314523a0f1e4671" /><Relationship Type="http://schemas.openxmlformats.org/officeDocument/2006/relationships/slide" Target="/ppt/slides/slide27.xml" Id="Rc4329134de444984" /><Relationship Type="http://schemas.openxmlformats.org/officeDocument/2006/relationships/slide" Target="/ppt/slides/slide28.xml" Id="Rf91a93f5e861490c" /><Relationship Type="http://schemas.openxmlformats.org/officeDocument/2006/relationships/slide" Target="/ppt/slides/slide29.xml" Id="Rab58de332fd441e5" /><Relationship Type="http://schemas.openxmlformats.org/officeDocument/2006/relationships/slide" Target="/ppt/slides/slide30.xml" Id="R10b34477416c4014" /><Relationship Type="http://schemas.openxmlformats.org/officeDocument/2006/relationships/slide" Target="/ppt/slides/slide31.xml" Id="R9cc69812e5c74a05" /><Relationship Type="http://schemas.openxmlformats.org/officeDocument/2006/relationships/slide" Target="/ppt/slides/slide32.xml" Id="R75b2bb74e74644e5" /><Relationship Type="http://schemas.openxmlformats.org/officeDocument/2006/relationships/slide" Target="/ppt/slides/slide33.xml" Id="Rde3550742fd648ee" /><Relationship Type="http://schemas.openxmlformats.org/officeDocument/2006/relationships/slide" Target="/ppt/slides/slide34.xml" Id="R2fdbd246244c492e" /><Relationship Type="http://schemas.openxmlformats.org/officeDocument/2006/relationships/slide" Target="/ppt/slides/slide35.xml" Id="Rc3f2af0d06064a37" /><Relationship Type="http://schemas.openxmlformats.org/officeDocument/2006/relationships/slide" Target="/ppt/slides/slide36.xml" Id="Rd737d9f9af31475f" /><Relationship Type="http://schemas.openxmlformats.org/officeDocument/2006/relationships/slide" Target="/ppt/slides/slide37.xml" Id="R23a2e72b991f4998" /><Relationship Type="http://schemas.openxmlformats.org/officeDocument/2006/relationships/slide" Target="/ppt/slides/slide38.xml" Id="R8078c1ae33f046f4" /><Relationship Type="http://schemas.openxmlformats.org/officeDocument/2006/relationships/slide" Target="/ppt/slides/slide39.xml" Id="R7aaa4246571f4bcb" /><Relationship Type="http://schemas.openxmlformats.org/officeDocument/2006/relationships/slide" Target="/ppt/slides/slide40.xml" Id="R8e7ade1ef2994e58" /><Relationship Type="http://schemas.openxmlformats.org/officeDocument/2006/relationships/slide" Target="/ppt/slides/slide41.xml" Id="R4e96f7c1a606410c" /><Relationship Type="http://schemas.openxmlformats.org/officeDocument/2006/relationships/slide" Target="/ppt/slides/slide42.xml" Id="Rfa51752c227f46e6" /><Relationship Type="http://schemas.openxmlformats.org/officeDocument/2006/relationships/slide" Target="/ppt/slides/slide43.xml" Id="Rf15e8a81b5a0437c" /><Relationship Type="http://schemas.openxmlformats.org/officeDocument/2006/relationships/slide" Target="/ppt/slides/slide44.xml" Id="R0adf8d5afbd940c5" /><Relationship Type="http://schemas.openxmlformats.org/officeDocument/2006/relationships/slide" Target="/ppt/slides/slide45.xml" Id="R484590b455ec44a4" /><Relationship Type="http://schemas.openxmlformats.org/officeDocument/2006/relationships/slide" Target="/ppt/slides/slide46.xml" Id="Rbfdb4b22ba4749a5" /><Relationship Type="http://schemas.openxmlformats.org/officeDocument/2006/relationships/slide" Target="/ppt/slides/slide47.xml" Id="R6a327d9f8bbb4cf0" /><Relationship Type="http://schemas.openxmlformats.org/officeDocument/2006/relationships/slide" Target="/ppt/slides/slide48.xml" Id="Ra8eff1dcb16549fe" /><Relationship Type="http://schemas.openxmlformats.org/officeDocument/2006/relationships/slide" Target="/ppt/slides/slide49.xml" Id="R531f5aa42d4144b5" /><Relationship Type="http://schemas.openxmlformats.org/officeDocument/2006/relationships/slide" Target="/ppt/slides/slide50.xml" Id="R5f51222927b24045" /><Relationship Type="http://schemas.openxmlformats.org/officeDocument/2006/relationships/slide" Target="/ppt/slides/slide51.xml" Id="R5ebaef4ad1fc460f" /><Relationship Type="http://schemas.openxmlformats.org/officeDocument/2006/relationships/slide" Target="/ppt/slides/slide52.xml" Id="R7de912ce025e48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a6978963ba4c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7e8b9d19b41d9" /><Relationship Type="http://schemas.openxmlformats.org/officeDocument/2006/relationships/notesMaster" Target="/ppt/notesMasters/notesMaster1.xml" Id="R12f01f91ed0945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f82c5267f84dff" /><Relationship Type="http://schemas.openxmlformats.org/officeDocument/2006/relationships/notesMaster" Target="/ppt/notesMasters/notesMaster1.xml" Id="R9ce4e429285042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ac8b884384fd9" /><Relationship Type="http://schemas.openxmlformats.org/officeDocument/2006/relationships/notesMaster" Target="/ppt/notesMasters/notesMaster1.xml" Id="R63d778aeea9845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227eb545fb4aea" /><Relationship Type="http://schemas.openxmlformats.org/officeDocument/2006/relationships/notesMaster" Target="/ppt/notesMasters/notesMaster1.xml" Id="Rf9336fa6c7fe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57948081ec4436" /><Relationship Type="http://schemas.openxmlformats.org/officeDocument/2006/relationships/notesMaster" Target="/ppt/notesMasters/notesMaster1.xml" Id="R5ea29bf1a398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399f48fc3d44ac" /><Relationship Type="http://schemas.openxmlformats.org/officeDocument/2006/relationships/notesMaster" Target="/ppt/notesMasters/notesMaster1.xml" Id="R69aa1490f1e545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bcdbb9716d4b90" /><Relationship Type="http://schemas.openxmlformats.org/officeDocument/2006/relationships/notesMaster" Target="/ppt/notesMasters/notesMaster1.xml" Id="R062a8bd7d58749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3c968c7e6f4117" /><Relationship Type="http://schemas.openxmlformats.org/officeDocument/2006/relationships/notesMaster" Target="/ppt/notesMasters/notesMaster1.xml" Id="Rd3d2e17368b74c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8a89ca64ad4e65" /><Relationship Type="http://schemas.openxmlformats.org/officeDocument/2006/relationships/notesMaster" Target="/ppt/notesMasters/notesMaster1.xml" Id="R5c3f1d48f54844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94f741ed2247e2" /><Relationship Type="http://schemas.openxmlformats.org/officeDocument/2006/relationships/notesMaster" Target="/ppt/notesMasters/notesMaster1.xml" Id="Rc9b57d6fb639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5990e75dd04ffb" /><Relationship Type="http://schemas.openxmlformats.org/officeDocument/2006/relationships/notesMaster" Target="/ppt/notesMasters/notesMaster1.xml" Id="Rc26d6f1dc2cb45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4973176c034217" /><Relationship Type="http://schemas.openxmlformats.org/officeDocument/2006/relationships/notesMaster" Target="/ppt/notesMasters/notesMaster1.xml" Id="R28cdc897a3a245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dd89d4d70c4f55" /><Relationship Type="http://schemas.openxmlformats.org/officeDocument/2006/relationships/notesMaster" Target="/ppt/notesMasters/notesMaster1.xml" Id="R8ee3e7efece44e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ff34fc3e484f16" /><Relationship Type="http://schemas.openxmlformats.org/officeDocument/2006/relationships/notesMaster" Target="/ppt/notesMasters/notesMaster1.xml" Id="R2d79e7f59e3d48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de591400544df2" /><Relationship Type="http://schemas.openxmlformats.org/officeDocument/2006/relationships/notesMaster" Target="/ppt/notesMasters/notesMaster1.xml" Id="Rb95c879ad35441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7065ad49f94376" /><Relationship Type="http://schemas.openxmlformats.org/officeDocument/2006/relationships/notesMaster" Target="/ppt/notesMasters/notesMaster1.xml" Id="R53d1ff73a88c42b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f00fdaecef64c80" /><Relationship Type="http://schemas.openxmlformats.org/officeDocument/2006/relationships/notesMaster" Target="/ppt/notesMasters/notesMaster1.xml" Id="R3111367567fe491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649c5d2f7245d3" /><Relationship Type="http://schemas.openxmlformats.org/officeDocument/2006/relationships/notesMaster" Target="/ppt/notesMasters/notesMaster1.xml" Id="R4c7f012dabd148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1ce6b5303943f6" /><Relationship Type="http://schemas.openxmlformats.org/officeDocument/2006/relationships/notesMaster" Target="/ppt/notesMasters/notesMaster1.xml" Id="R0ac21dd00dba4d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74bb00817524712" /><Relationship Type="http://schemas.openxmlformats.org/officeDocument/2006/relationships/notesMaster" Target="/ppt/notesMasters/notesMaster1.xml" Id="R1f8870a5b27b42d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e0dfa5be474f4c" /><Relationship Type="http://schemas.openxmlformats.org/officeDocument/2006/relationships/notesMaster" Target="/ppt/notesMasters/notesMaster1.xml" Id="Rd5148fd0913e4d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61a850412054358" /><Relationship Type="http://schemas.openxmlformats.org/officeDocument/2006/relationships/notesMaster" Target="/ppt/notesMasters/notesMaster1.xml" Id="R136766a4072a43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e86774fba844138" /><Relationship Type="http://schemas.openxmlformats.org/officeDocument/2006/relationships/notesMaster" Target="/ppt/notesMasters/notesMaster1.xml" Id="R0009519617b648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0989543c4284e6f" /><Relationship Type="http://schemas.openxmlformats.org/officeDocument/2006/relationships/notesMaster" Target="/ppt/notesMasters/notesMaster1.xml" Id="Rfe6c7b46d002423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f15710b2eb4e4a" /><Relationship Type="http://schemas.openxmlformats.org/officeDocument/2006/relationships/notesMaster" Target="/ppt/notesMasters/notesMaster1.xml" Id="R75c76226a52c4a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688855273f4bb3" /><Relationship Type="http://schemas.openxmlformats.org/officeDocument/2006/relationships/notesMaster" Target="/ppt/notesMasters/notesMaster1.xml" Id="Rbff6ede000e34a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0c44bde8904c13" /><Relationship Type="http://schemas.openxmlformats.org/officeDocument/2006/relationships/notesMaster" Target="/ppt/notesMasters/notesMaster1.xml" Id="R9166bfb522bc45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55893abf904480" /><Relationship Type="http://schemas.openxmlformats.org/officeDocument/2006/relationships/notesMaster" Target="/ppt/notesMasters/notesMaster1.xml" Id="Rc69d9a8de59f46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aa8d2840a8544db" /><Relationship Type="http://schemas.openxmlformats.org/officeDocument/2006/relationships/notesMaster" Target="/ppt/notesMasters/notesMaster1.xml" Id="Rfbb08c7aeca040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aa8b2d8ecb47ee" /><Relationship Type="http://schemas.openxmlformats.org/officeDocument/2006/relationships/notesMaster" Target="/ppt/notesMasters/notesMaster1.xml" Id="R7d03b8a085044eb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ef8690c2da948c8" /><Relationship Type="http://schemas.openxmlformats.org/officeDocument/2006/relationships/notesMaster" Target="/ppt/notesMasters/notesMaster1.xml" Id="R0cf8935389be44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9c18673bc644f8" /><Relationship Type="http://schemas.openxmlformats.org/officeDocument/2006/relationships/notesMaster" Target="/ppt/notesMasters/notesMaster1.xml" Id="R8e67d49d59e2469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ac37743b2a8479d" /><Relationship Type="http://schemas.openxmlformats.org/officeDocument/2006/relationships/notesMaster" Target="/ppt/notesMasters/notesMaster1.xml" Id="R689f584529e643d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962a887ac3c4a54" /><Relationship Type="http://schemas.openxmlformats.org/officeDocument/2006/relationships/notesMaster" Target="/ppt/notesMasters/notesMaster1.xml" Id="Rc7e8ed7544ba441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3749e3dd7e04cb6" /><Relationship Type="http://schemas.openxmlformats.org/officeDocument/2006/relationships/notesMaster" Target="/ppt/notesMasters/notesMaster1.xml" Id="R3b3496e33fce49e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6d249435954872" /><Relationship Type="http://schemas.openxmlformats.org/officeDocument/2006/relationships/notesMaster" Target="/ppt/notesMasters/notesMaster1.xml" Id="Rf2410087ffb6423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e789a77714f42cf" /><Relationship Type="http://schemas.openxmlformats.org/officeDocument/2006/relationships/notesMaster" Target="/ppt/notesMasters/notesMaster1.xml" Id="Rf8d1f7c796794ca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25c201fd3e14727" /><Relationship Type="http://schemas.openxmlformats.org/officeDocument/2006/relationships/notesMaster" Target="/ppt/notesMasters/notesMaster1.xml" Id="Ra89c80165ac744e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23cd611a5c548fc" /><Relationship Type="http://schemas.openxmlformats.org/officeDocument/2006/relationships/notesMaster" Target="/ppt/notesMasters/notesMaster1.xml" Id="R6997e2ae51eb47a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81dd15459f84c56" /><Relationship Type="http://schemas.openxmlformats.org/officeDocument/2006/relationships/notesMaster" Target="/ppt/notesMasters/notesMaster1.xml" Id="R12bf5a23915847d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cbe2c51b8a249cf" /><Relationship Type="http://schemas.openxmlformats.org/officeDocument/2006/relationships/notesMaster" Target="/ppt/notesMasters/notesMaster1.xml" Id="Rff6d7087187b495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68d1b0b04dd4604" /><Relationship Type="http://schemas.openxmlformats.org/officeDocument/2006/relationships/notesMaster" Target="/ppt/notesMasters/notesMaster1.xml" Id="Re8bc1d3ef2db4ff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3fa912439ba499c" /><Relationship Type="http://schemas.openxmlformats.org/officeDocument/2006/relationships/notesMaster" Target="/ppt/notesMasters/notesMaster1.xml" Id="R64f36042f44f471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851fcf7d06145bb" /><Relationship Type="http://schemas.openxmlformats.org/officeDocument/2006/relationships/notesMaster" Target="/ppt/notesMasters/notesMaster1.xml" Id="Rf96b57eb4ab94cf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b48c7f967ff41cd" /><Relationship Type="http://schemas.openxmlformats.org/officeDocument/2006/relationships/notesMaster" Target="/ppt/notesMasters/notesMaster1.xml" Id="Rda5e50e0bfbd4b1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4eb9da37eed4d3d" /><Relationship Type="http://schemas.openxmlformats.org/officeDocument/2006/relationships/notesMaster" Target="/ppt/notesMasters/notesMaster1.xml" Id="Rd54b0fb8e8f7402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a2f3aa5d8a048a0" /><Relationship Type="http://schemas.openxmlformats.org/officeDocument/2006/relationships/notesMaster" Target="/ppt/notesMasters/notesMaster1.xml" Id="R89b46680dbaf47d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28085c344604f75" /><Relationship Type="http://schemas.openxmlformats.org/officeDocument/2006/relationships/notesMaster" Target="/ppt/notesMasters/notesMaster1.xml" Id="R7f832b76a3854ad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a4a11bfb44147d7" /><Relationship Type="http://schemas.openxmlformats.org/officeDocument/2006/relationships/notesMaster" Target="/ppt/notesMasters/notesMaster1.xml" Id="Rb41a96b32467402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ffc8d855a5d447d" /><Relationship Type="http://schemas.openxmlformats.org/officeDocument/2006/relationships/notesMaster" Target="/ppt/notesMasters/notesMaster1.xml" Id="R045f1fe118d54f4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d17902a92bd4f51" /><Relationship Type="http://schemas.openxmlformats.org/officeDocument/2006/relationships/notesMaster" Target="/ppt/notesMasters/notesMaster1.xml" Id="R30b2a215d788407c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f9cf63705a94397" /><Relationship Type="http://schemas.openxmlformats.org/officeDocument/2006/relationships/notesMaster" Target="/ppt/notesMasters/notesMaster1.xml" Id="Rf48df5cec54949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独立研究案例；无品牌委托或机构背书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研究覆盖消费与竞争方向；门店投资回报需要客户内部经营数据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D25 Statistics Canada: Retail trade, June 2026</a:t>
            </a:r>
          </a:p>
          <a:p xmlns:a="http://schemas.openxmlformats.org/drawingml/2006/main">
            <a:r>
              <a:t>https://www150.statcan.gc.ca/n1/daily-quotidien/260821/dq260821a-eng.htm</a:t>
            </a:r>
          </a:p>
          <a:p xmlns:a="http://schemas.openxmlformats.org/drawingml/2006/main">
            <a:r>
              <a:t>Published 2026-08-21; accessed 2026-09-10</a:t>
            </a:r>
          </a:p>
          <a:p xmlns:a="http://schemas.openxmlformats.org/drawingml/2006/main">
            <a:r>
              <a:t>加拿大2026年6月，季调月度数据，可能修订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F10, F11, F13, F25, F30, F35,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近期研究优先项：角色跨品类搭配、送礼确定性，以及各国库存/支付/自取信息的一致性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D21 BoxLunch: Company Info</a:t>
            </a:r>
          </a:p>
          <a:p xmlns:a="http://schemas.openxmlformats.org/drawingml/2006/main">
            <a:r>
              <a:t>https://www.boxlunch.com/customer-service/boxlunch-policies/company-info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官方定位与品牌承诺，非效果测量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F25, F28, F30, F31, F36, F21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竞品集按争夺的购买任务划分；既比较同业杂货，也比较收藏和送礼渠道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D19 Circana: Global Toy Industry Rebounds in 2025</a:t>
            </a:r>
          </a:p>
          <a:p xmlns:a="http://schemas.openxmlformats.org/drawingml/2006/main">
            <a:r>
              <a:t>https://www.circana.com/post/global-toy-industry-rebounds-in-2025-as-sales-rise-7-fueled-by-pop-culture-collectibles-and-kidu</a:t>
            </a:r>
          </a:p>
          <a:p xmlns:a="http://schemas.openxmlformats.org/drawingml/2006/main">
            <a:r>
              <a:t>Published 2026-01-27; accessed 2026-09-10</a:t>
            </a:r>
          </a:p>
          <a:p xmlns:a="http://schemas.openxmlformats.org/drawingml/2006/main">
            <a:r>
              <a:t>G12追踪市场合计，含美加墨，不提供各国细分值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D23 AMVO: Estudio de Venta Online 2026</a:t>
            </a:r>
          </a:p>
          <a:p xmlns:a="http://schemas.openxmlformats.org/drawingml/2006/main">
            <a:r>
              <a:t>https://amvo.org.mx/descarga-evo-2026</a:t>
            </a:r>
          </a:p>
          <a:p xmlns:a="http://schemas.openxmlformats.org/drawingml/2006/main">
            <a:r>
              <a:t>Published 2026; accessed 2026-09-10</a:t>
            </a:r>
          </a:p>
          <a:p xmlns:a="http://schemas.openxmlformats.org/drawingml/2006/main">
            <a:r>
              <a:t>协会原始摘要；全零售电商范围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D24 Statistics Canada: Retail trade, December 2025</a:t>
            </a:r>
          </a:p>
          <a:p xmlns:a="http://schemas.openxmlformats.org/drawingml/2006/main">
            <a:r>
              <a:t>https://www150.statcan.gc.ca/n1/daily-quotidien/260220/dq260220a-eng.htm</a:t>
            </a:r>
          </a:p>
          <a:p xmlns:a="http://schemas.openxmlformats.org/drawingml/2006/main">
            <a:r>
              <a:t>Published 2026-02-20; accessed 2026-09-10</a:t>
            </a:r>
          </a:p>
          <a:p xmlns:a="http://schemas.openxmlformats.org/drawingml/2006/main">
            <a:r>
              <a:t>加拿大零售2025全年及12月口径；初始发布版本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F08, F29, F33, F34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战略判断基于分项证据；本报告不把这些不同口径数字相加成为 TAM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F08, F10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选品需要进入增长的具体子类，整体景气不能代替单个 IP 或毛绒系列验证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F37, F09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优先评估角色积木、收藏玩法与配件组合；毛绒项目单独验证购买理由和替代品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销售额约由销量×平均售价构成；披露值经四舍五入，12%与4%不应简单相加。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MINISO应分别监测售出件数、同款价格和品类组合，区分客流机会与客单结构机会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F10, F11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IP选择同时评估认知、商品适配和竞争供给，避免用角色知名度单独决定采购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机会描述采用自用、收藏、送礼任务；本报告不虚构年龄、性别占比或市场分群规模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Deloitte在线调查n=4270，2025-08-27至09-05；计划而非实际花费，亦非2026预测。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F12, F13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送礼陈列可按角色、对象与预算组织；盲选机制应与确定款选择并存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F13, F22, F23, F28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同一 IP 可以服务多个任务，但需要不同的商品说明、陈列及后续沟通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F25, F30,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将“平价＋IP”作为竞争参与条件，进一步寻找客户能够持续执行的商品和服务差异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D17 LEGO Group: H1 2026 results</a:t>
            </a:r>
          </a:p>
          <a:p xmlns:a="http://schemas.openxmlformats.org/drawingml/2006/main">
            <a:r>
              <a:t>https://www.lego.com/en-us/aboutus/news/2026/august/strong-demand-and-brand-relevance-drive-lego-group-revenue-up-21-operating-profit-up-22-in-h1-2026</a:t>
            </a:r>
          </a:p>
          <a:p xmlns:a="http://schemas.openxmlformats.org/drawingml/2006/main">
            <a:r>
              <a:t>Published 2026-08-25; accessed 2026-09-10</a:t>
            </a:r>
          </a:p>
          <a:p xmlns:a="http://schemas.openxmlformats.org/drawingml/2006/main">
            <a:r>
              <a:t>集团全球口径，不等于美国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D21 BoxLunch: Company Info</a:t>
            </a:r>
          </a:p>
          <a:p xmlns:a="http://schemas.openxmlformats.org/drawingml/2006/main">
            <a:r>
              <a:t>https://www.boxlunch.com/customer-service/boxlunch-policies/company-info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官方定位与品牌承诺，非效果测量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F14, F21, F23, F28, F30, F31, F36, F27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下面用商品、渠道、复购机制和适配边界逐一展开，不将不同商业模式硬排优劣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MINISO: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Published 2026-08-28; accessed 2026-09-09</a:t>
            </a:r>
          </a:p>
          <a:p xmlns:a="http://schemas.openxmlformats.org/drawingml/2006/main">
            <a:r>
              <a:t>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F01, F02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扩大覆盖之后，还需验证新店与成熟店的商品组合、购买任务及复购差异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MINISO: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Published 2026-08-28; accessed 2026-09-09</a:t>
            </a:r>
          </a:p>
          <a:p xmlns:a="http://schemas.openxmlformats.org/drawingml/2006/main">
            <a:r>
              <a:t>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MINISO Canada: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F03, F16, F25, F32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可先优化角色偏好与上新通知的连接，再用经营数据检验通知、入店和复购的关系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FY2025截至2026-01-31；商品目录是2026-09-10快照，两者不构成因果证据。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Five Below: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Published 2026-03-18; accessed 2026-09-09</a:t>
            </a:r>
          </a:p>
          <a:p xmlns:a="http://schemas.openxmlformats.org/drawingml/2006/main">
            <a:r>
              <a:t>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F05,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对标应观察同任务购物篮、角色陈列和相关配件，不能只比较两家公司的收入增速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Five Below: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Published 2026-03-18; accessed 2026-09-09</a:t>
            </a:r>
          </a:p>
          <a:p xmlns:a="http://schemas.openxmlformats.org/drawingml/2006/main">
            <a:r>
              <a:t>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F36, F05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用角色购物篮比较竞争：主商品、配件、包装和可获得性一起看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POP MART / HKEX: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Published 2026-03-25; accessed 2026-09-09</a:t>
            </a:r>
          </a:p>
          <a:p xmlns:a="http://schemas.openxmlformats.org/drawingml/2006/main">
            <a:r>
              <a:t>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F06, F07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收藏项目需要同时设计线上商品信息、发售规则与门店体验，不能只模仿开大店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2026-09-10快照；税费、运费及库存未结算核验；Macaron规则不套用其他系列。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F21, F22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MINISO可评估同IP的小配件、主商品和礼盒层级；具体价格仍需成本与愿付验证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原创商品研究应同时评估“外观喜欢”与“为什么想带回家/送给谁”</a:t>
            </a:r>
          </a:p>
          <a:p xmlns:a="http://schemas.openxmlformats.org/drawingml/2006/main">
            <a:r>
              <a:t>Product photo: https://cdn11.bigcommerce.com/s-23s5gfmhr7/images/stencil/1000w/products/115/535/AMUSEABLE_MOON__23168.1748861982.jpg?c=1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D17 LEGO Group: H1 2026 results</a:t>
            </a:r>
          </a:p>
          <a:p xmlns:a="http://schemas.openxmlformats.org/drawingml/2006/main">
            <a:r>
              <a:t>https://www.lego.com/en-us/aboutus/news/2026/august/strong-demand-and-brand-relevance-drive-lego-group-revenue-up-21-operating-profit-up-22-in-h1-2026</a:t>
            </a:r>
          </a:p>
          <a:p xmlns:a="http://schemas.openxmlformats.org/drawingml/2006/main">
            <a:r>
              <a:t>Published 2026-08-25; accessed 2026-09-10</a:t>
            </a:r>
          </a:p>
          <a:p xmlns:a="http://schemas.openxmlformats.org/drawingml/2006/main">
            <a:r>
              <a:t>集团全球口径，不等于美国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F26, F27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可借鉴跨兴趣产品架构与参与式展示；全球收入不用于估计美国市场份额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D17 LEGO Group: H1 2026 results</a:t>
            </a:r>
          </a:p>
          <a:p xmlns:a="http://schemas.openxmlformats.org/drawingml/2006/main">
            <a:r>
              <a:t>https://www.lego.com/en-us/aboutus/news/2026/august/strong-demand-and-brand-relevance-drive-lego-group-revenue-up-21-operating-profit-up-22-in-h1-2026</a:t>
            </a:r>
          </a:p>
          <a:p xmlns:a="http://schemas.openxmlformats.org/drawingml/2006/main">
            <a:r>
              <a:t>Published 2026-08-25; accessed 2026-09-10</a:t>
            </a:r>
          </a:p>
          <a:p xmlns:a="http://schemas.openxmlformats.org/drawingml/2006/main">
            <a:r>
              <a:t>集团全球口径，不等于美国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产品创新应检验消费者愿不愿参与使用过程，而不只是测试包装是否吸睛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借鉴“购买者参与”这一机制，具体服务形式须匹配门店人力和等候容忍度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D09 Daiso USA: FAQ</a:t>
            </a:r>
          </a:p>
          <a:p xmlns:a="http://schemas.openxmlformats.org/drawingml/2006/main">
            <a:r>
              <a:t>https://daisous.com/pages/faq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美国线上商店服务限制；页面包含批量线上业务语境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F30, F17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Daiso是“低价角色商品已存在”的反证，需要进入核心竞品清单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F14, F15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加拿大定位应回答“比低价替代品多提供什么”，并用具体商品展示而非抽象品牌标签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D21 BoxLunch: Company Info</a:t>
            </a:r>
          </a:p>
          <a:p xmlns:a="http://schemas.openxmlformats.org/drawingml/2006/main">
            <a:r>
              <a:t>https://www.boxlunch.com/customer-service/boxlunch-policies/company-info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官方定位与品牌承诺，非效果测量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重点借鉴角色系列如何成为生活方式组合，公益承诺的效果须另有证据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D17 LEGO Group: H1 2026 results</a:t>
            </a:r>
          </a:p>
          <a:p xmlns:a="http://schemas.openxmlformats.org/drawingml/2006/main">
            <a:r>
              <a:t>https://www.lego.com/en-us/aboutus/news/2026/august/strong-demand-and-brand-relevance-drive-lego-group-revenue-up-21-operating-profit-up-22-in-h1-2026</a:t>
            </a:r>
          </a:p>
          <a:p xmlns:a="http://schemas.openxmlformats.org/drawingml/2006/main">
            <a:r>
              <a:t>Published 2026-08-25; accessed 2026-09-10</a:t>
            </a:r>
          </a:p>
          <a:p xmlns:a="http://schemas.openxmlformats.org/drawingml/2006/main">
            <a:r>
              <a:t>集团全球口径，不等于美国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D21 BoxLunch: Company Info</a:t>
            </a:r>
          </a:p>
          <a:p xmlns:a="http://schemas.openxmlformats.org/drawingml/2006/main">
            <a:r>
              <a:t>https://www.boxlunch.com/customer-service/boxlunch-policies/company-info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官方定位与品牌承诺，非效果测量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F21, F23, F27, F28, F30, F31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优先选择能用现有商品与门店能力承接的机制，再决定是否投入更重的体验改造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F14, F21, F23, F30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机会是清楚组织价值层级；最终价格须结合本地成本、替代商品与愿付水平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D24 Statistics Canada: Retail trade, December 2025</a:t>
            </a:r>
          </a:p>
          <a:p xmlns:a="http://schemas.openxmlformats.org/drawingml/2006/main">
            <a:r>
              <a:t>https://www150.statcan.gc.ca/n1/daily-quotidien/260220/dq260220a-eng.htm</a:t>
            </a:r>
          </a:p>
          <a:p xmlns:a="http://schemas.openxmlformats.org/drawingml/2006/main">
            <a:r>
              <a:t>Published 2026-02-20; accessed 2026-09-10</a:t>
            </a:r>
          </a:p>
          <a:p xmlns:a="http://schemas.openxmlformats.org/drawingml/2006/main">
            <a:r>
              <a:t>加拿大零售2025全年及12月口径；初始发布版本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加拿大方案需要同时解释商品价值和具体购买任务，避免用总零售增长证明某个品类机会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季调月度口径；其余零售=100%−电商占比，基于披露比例计算。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D25 Statistics Canada: Retail trade, June 2026</a:t>
            </a:r>
          </a:p>
          <a:p xmlns:a="http://schemas.openxmlformats.org/drawingml/2006/main">
            <a:r>
              <a:t>https://www150.statcan.gc.ca/n1/daily-quotidien/260821/dq260821a-eng.htm</a:t>
            </a:r>
          </a:p>
          <a:p xmlns:a="http://schemas.openxmlformats.org/drawingml/2006/main">
            <a:r>
              <a:t>Published 2026-08-21; accessed 2026-09-10</a:t>
            </a:r>
          </a:p>
          <a:p xmlns:a="http://schemas.openxmlformats.org/drawingml/2006/main">
            <a:r>
              <a:t>加拿大2026年6月，季调月度数据，可能修订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数字入口可以服务门店选择与购买准备，不能仅凭线上占比决定渠道预算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MINISO Canada: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D15 MINISO Canada: Wholesale catalogue</a:t>
            </a:r>
          </a:p>
          <a:p xmlns:a="http://schemas.openxmlformats.org/drawingml/2006/main">
            <a:r>
              <a:t>https://miniso-ca.com/pages/wholesale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加拿大批发目录；非零售销售结构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F16, F24, F32, F14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加拿大优先研究“角色主商品＋有用配件”的组合价值，并分别评价零售与批发口径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MINISO Canada: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F14, F16, F32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加拿大可先验证“买得明白、搭配完整、拿得到”的零售表达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D23 AMVO: Estudio de Venta Online 2026</a:t>
            </a:r>
          </a:p>
          <a:p xmlns:a="http://schemas.openxmlformats.org/drawingml/2006/main">
            <a:r>
              <a:t>https://amvo.org.mx/descarga-evo-2026</a:t>
            </a:r>
          </a:p>
          <a:p xmlns:a="http://schemas.openxmlformats.org/drawingml/2006/main">
            <a:r>
              <a:t>Published 2026; accessed 2026-09-10</a:t>
            </a:r>
          </a:p>
          <a:p xmlns:a="http://schemas.openxmlformats.org/drawingml/2006/main">
            <a:r>
              <a:t>协会原始摘要；全零售电商范围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F33, F19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墨西哥机会分析把角色选购与本地付款/自取一起看，避免只做品牌认知研究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优先测试同角色的跨任务搭配，区分真正加购与对原本日用品购买的替代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F19, F25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本地转化研究应覆盖完整购买路径，并保留消费者未完成购买的具体原因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D12 MUMUSO México: Directorio de Tiendas</a:t>
            </a:r>
          </a:p>
          <a:p xmlns:a="http://schemas.openxmlformats.org/drawingml/2006/main">
            <a:r>
              <a:t>https://mumusomx.com/directorio-2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墨西哥门店目录存在性，非市场规模或份额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F15, F20, F25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墨西哥先做商圈任务比较与角色购物篮观察，再判断具体扩张或商品投入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D25 Statistics Canada: Retail trade, June 2026</a:t>
            </a:r>
          </a:p>
          <a:p xmlns:a="http://schemas.openxmlformats.org/drawingml/2006/main">
            <a:r>
              <a:t>https://www150.statcan.gc.ca/n1/daily-quotidien/260821/dq260821a-eng.htm</a:t>
            </a:r>
          </a:p>
          <a:p xmlns:a="http://schemas.openxmlformats.org/drawingml/2006/main">
            <a:r>
              <a:t>Published 2026-08-21; accessed 2026-09-10</a:t>
            </a:r>
          </a:p>
          <a:p xmlns:a="http://schemas.openxmlformats.org/drawingml/2006/main">
            <a:r>
              <a:t>加拿大2026年6月，季调月度数据，可能修订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F10, F14, F19, F25, F32, F35,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北美采用共同的角色与商品研究框架，各国保留不同竞争参照和渠道执行条件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F10, F11, F13, F30, F36, F09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美国研究优先级：任务适配与替代关系，随后再检验价格和商品组合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MINISO Canada: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F14, F16, F32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加拿大先检验“额外价值说得清、核心商品拿得到”，再讨论扩大投入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D23 AMVO: Estudio de Venta Online 2026</a:t>
            </a:r>
          </a:p>
          <a:p xmlns:a="http://schemas.openxmlformats.org/drawingml/2006/main">
            <a:r>
              <a:t>https://amvo.org.mx/descarga-evo-2026</a:t>
            </a:r>
          </a:p>
          <a:p xmlns:a="http://schemas.openxmlformats.org/drawingml/2006/main">
            <a:r>
              <a:t>Published 2026; accessed 2026-09-10</a:t>
            </a:r>
          </a:p>
          <a:p xmlns:a="http://schemas.openxmlformats.org/drawingml/2006/main">
            <a:r>
              <a:t>协会原始摘要；全零售电商范围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F19, F25, F33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墨西哥先把选择与获得的路径做完整，再判断系列组合能否带来增量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MINISO: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Published 2026-08-28; accessed 2026-09-09</a:t>
            </a:r>
          </a:p>
          <a:p xmlns:a="http://schemas.openxmlformats.org/drawingml/2006/main">
            <a:r>
              <a:t>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F03, F13, F19, F22, F25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体验优化应按消费者完成任务的过程组织，品牌、商品、渠道研究采用同一条路径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F21, F22, F25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层级用于设计商品任务；本报告没有足够成本与愿付数据给出具体上市价格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D25 Statistics Canada: Retail trade, June 2026</a:t>
            </a:r>
          </a:p>
          <a:p xmlns:a="http://schemas.openxmlformats.org/drawingml/2006/main">
            <a:r>
              <a:t>https://www150.statcan.gc.ca/n1/daily-quotidien/260821/dq260821a-eng.htm</a:t>
            </a:r>
          </a:p>
          <a:p xmlns:a="http://schemas.openxmlformats.org/drawingml/2006/main">
            <a:r>
              <a:t>Published 2026-08-21; accessed 2026-09-10</a:t>
            </a:r>
          </a:p>
          <a:p xmlns:a="http://schemas.openxmlformats.org/drawingml/2006/main">
            <a:r>
              <a:t>加拿大2026年6月，季调月度数据，可能修订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F09, F14, F30, F35,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对机会保持条件化判断，既保留支持证据，也保留会改变结论的观察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F13, F19, F21, F25, F30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排序依据是现有能力与问题清晰度；不以虚构机会评分替代经营判断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F10, F11, F13, F14, F19, F25, F30,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案头已形成方向判断；市场细分规模、价格弹性和投资回报仍需一手或经营数据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F09, F13, F19, F25, F36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与已完成的问卷和整体方案衔接；不把上述验证结果写成已经发生的案头发现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公开案例采用独立视觉与原创分析；来源完整链接、口径和定位随报告提供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D01 MINISO: 2026 June Quarter and Interim Results</a:t>
            </a:r>
          </a:p>
          <a:p xmlns:a="http://schemas.openxmlformats.org/drawingml/2006/main">
            <a:r>
              <a:t>https://ir.miniso.com/image/MINISO+2026+Q2%26H1+ER_EN.pdf</a:t>
            </a:r>
          </a:p>
          <a:p xmlns:a="http://schemas.openxmlformats.org/drawingml/2006/main">
            <a:r>
              <a:t>Published 2026-08-28; accessed 2026-09-09</a:t>
            </a:r>
          </a:p>
          <a:p xmlns:a="http://schemas.openxmlformats.org/drawingml/2006/main">
            <a:r>
              <a:t>2026上半年；公司区域和集团口径；未经审计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D02 Five Below: Fourth Quarter and Fiscal 2025 Financial Results</a:t>
            </a:r>
          </a:p>
          <a:p xmlns:a="http://schemas.openxmlformats.org/drawingml/2006/main">
            <a:r>
              <a:t>https://investor.fivebelow.com/news/press-release-details/2026/Five-Below-Inc--Announces-Fourth-Quarter-and-Fiscal-2025-Financial-Results/default.aspx</a:t>
            </a:r>
          </a:p>
          <a:p xmlns:a="http://schemas.openxmlformats.org/drawingml/2006/main">
            <a:r>
              <a:t>Published 2026-03-18; accessed 2026-09-09</a:t>
            </a:r>
          </a:p>
          <a:p xmlns:a="http://schemas.openxmlformats.org/drawingml/2006/main">
            <a:r>
              <a:t>FY2025截至2026-01-31；美元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D03 POP MART / HKEX: Annual Results for the Year Ended 31 December 2025</a:t>
            </a:r>
          </a:p>
          <a:p xmlns:a="http://schemas.openxmlformats.org/drawingml/2006/main">
            <a:r>
              <a:t>https://www1.hkexnews.hk/listedco/listconews/sehk/2026/0325/2026032500285.pdf</a:t>
            </a:r>
          </a:p>
          <a:p xmlns:a="http://schemas.openxmlformats.org/drawingml/2006/main">
            <a:r>
              <a:t>Published 2026-03-25; accessed 2026-09-09</a:t>
            </a:r>
          </a:p>
          <a:p xmlns:a="http://schemas.openxmlformats.org/drawingml/2006/main">
            <a:r>
              <a:t>2025自然年；Americas，不等于美国或本项目三国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D04 Circana: U.S. Toy Industry Returns to Growth in 2025</a:t>
            </a:r>
          </a:p>
          <a:p xmlns:a="http://schemas.openxmlformats.org/drawingml/2006/main">
            <a:r>
              <a:t>https://www.circana.com/post/u-s-toy-industry-returns-to-growth-in-2025-circana-reports</a:t>
            </a:r>
          </a:p>
          <a:p xmlns:a="http://schemas.openxmlformats.org/drawingml/2006/main">
            <a:r>
              <a:t>Published 2026-02-03; accessed 2026-09-09</a:t>
            </a:r>
          </a:p>
          <a:p xmlns:a="http://schemas.openxmlformats.org/drawingml/2006/main">
            <a:r>
              <a:t>美国玩具Retail Tracking Service；2025同比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D05 Circana: US Toy Industry Posts Strongest First Half in Six Years</a:t>
            </a:r>
          </a:p>
          <a:p xmlns:a="http://schemas.openxmlformats.org/drawingml/2006/main">
            <a:r>
              <a:t>https://www.circana.com/post/us-toy-industry-posts-strongest-first-half-in-six-years-circana-reports</a:t>
            </a:r>
          </a:p>
          <a:p xmlns:a="http://schemas.openxmlformats.org/drawingml/2006/main">
            <a:r>
              <a:t>Published 2026-08-12; accessed 2026-09-09</a:t>
            </a:r>
          </a:p>
          <a:p xmlns:a="http://schemas.openxmlformats.org/drawingml/2006/main">
            <a:r>
              <a:t>美国玩具2026年1–6月同比；页更新8月13日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D06 Deloitte: 2025 Holiday Retail Survey</a:t>
            </a:r>
          </a:p>
          <a:p xmlns:a="http://schemas.openxmlformats.org/drawingml/2006/main">
            <a:r>
              <a:t>https://www.deloitte.com/content/dam/insights/articles/2025/us188488_cic-holiday-retail/pdf/DI_2025-Holiday-Survey.pdf</a:t>
            </a:r>
          </a:p>
          <a:p xmlns:a="http://schemas.openxmlformats.org/drawingml/2006/main">
            <a:r>
              <a:t>Published 2025; accessed 2026-09-09</a:t>
            </a:r>
          </a:p>
          <a:p xmlns:a="http://schemas.openxmlformats.org/drawingml/2006/main">
            <a:r>
              <a:t>美国在线调查n=4270，2025-08-27至09-05；计划花费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D07 Dollarama: Investor Presentation Q4-FY2026</a:t>
            </a:r>
          </a:p>
          <a:p xmlns:a="http://schemas.openxmlformats.org/drawingml/2006/main">
            <a:r>
              <a:t>https://www.dollarama.com/en-CA/corp/wp-content/uploads/2026/04/Investor-Presentation-2026-03-24-FY26Q4-vF.pdf</a:t>
            </a:r>
          </a:p>
          <a:p xmlns:a="http://schemas.openxmlformats.org/drawingml/2006/main">
            <a:r>
              <a:t>Published 2026-03-24; accessed 2026-09-09</a:t>
            </a:r>
          </a:p>
          <a:p xmlns:a="http://schemas.openxmlformats.org/drawingml/2006/main">
            <a:r>
              <a:t>加拿大截至2026-02-01；Dollarcity截至2025-12-31；封面年份笔误与内文需区分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完整URL见本页备注及 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D08 MINISO Canada: Canada official homepage</a:t>
            </a:r>
          </a:p>
          <a:p xmlns:a="http://schemas.openxmlformats.org/drawingml/2006/main">
            <a:r>
              <a:t>https://miniso.ca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官网功能和系列入口快照，非销售数据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D09 Daiso USA: FAQ</a:t>
            </a:r>
          </a:p>
          <a:p xmlns:a="http://schemas.openxmlformats.org/drawingml/2006/main">
            <a:r>
              <a:t>https://daisous.com/pages/faq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美国线上商店服务限制；页面包含批量线上业务语境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D11 MINISO México: Preguntas Frecuentes</a:t>
            </a:r>
          </a:p>
          <a:p xmlns:a="http://schemas.openxmlformats.org/drawingml/2006/main">
            <a:r>
              <a:t>https://www.miniso.com.mx/faq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官网购买、付款、配送和门店自取说明；非履约实测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D12 MUMUSO México: Directorio de Tiendas</a:t>
            </a:r>
          </a:p>
          <a:p xmlns:a="http://schemas.openxmlformats.org/drawingml/2006/main">
            <a:r>
              <a:t>https://mumusomx.com/directorio-2</a:t>
            </a:r>
          </a:p>
          <a:p xmlns:a="http://schemas.openxmlformats.org/drawingml/2006/main">
            <a:r>
              <a:t>Published 网页无明确发布日期; accessed 2026-09-09</a:t>
            </a:r>
          </a:p>
          <a:p xmlns:a="http://schemas.openxmlformats.org/drawingml/2006/main">
            <a:r>
              <a:t>墨西哥门店目录存在性，非市场规模或份额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D13 POP MART US: THE MONSTERS Exciting Macaron / related products</a:t>
            </a:r>
          </a:p>
          <a:p xmlns:a="http://schemas.openxmlformats.org/drawingml/2006/main">
            <a:r>
              <a:t>https://www.popmart.com/us/products/675/the-monsters-exciting-macaron-vinyl-face-blind-box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美国官网商品与推荐区原币标价快照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D14 Jellycat US: Amuseables Moon</a:t>
            </a:r>
          </a:p>
          <a:p xmlns:a="http://schemas.openxmlformats.org/drawingml/2006/main">
            <a:r>
              <a:t>https://us.jellycat.com/amuseables-moon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美国站商品起价与说明，不代表全系列均价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D15 MINISO Canada: Wholesale catalogue</a:t>
            </a:r>
          </a:p>
          <a:p xmlns:a="http://schemas.openxmlformats.org/drawingml/2006/main">
            <a:r>
              <a:t>https://miniso-ca.com/pages/wholesale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加拿大批发目录；非零售销售结构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完整URL见本页备注及 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D16 MINISO México: Cinnamoroll collection</a:t>
            </a:r>
          </a:p>
          <a:p xmlns:a="http://schemas.openxmlformats.org/drawingml/2006/main">
            <a:r>
              <a:t>https://www.miniso.com.mx/sanrio/cinnamoroll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墨西哥角色系列与网站自述的自取范围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D17 LEGO Group: H1 2026 results</a:t>
            </a:r>
          </a:p>
          <a:p xmlns:a="http://schemas.openxmlformats.org/drawingml/2006/main">
            <a:r>
              <a:t>https://www.lego.com/en-us/aboutus/news/2026/august/strong-demand-and-brand-relevance-drive-lego-group-revenue-up-21-operating-profit-up-22-in-h1-2026</a:t>
            </a:r>
          </a:p>
          <a:p xmlns:a="http://schemas.openxmlformats.org/drawingml/2006/main">
            <a:r>
              <a:t>Published 2026-08-25; accessed 2026-09-10</a:t>
            </a:r>
          </a:p>
          <a:p xmlns:a="http://schemas.openxmlformats.org/drawingml/2006/main">
            <a:r>
              <a:t>集团全球口径，不等于美国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D18 Build-A-Bear: Form 10-Q, quarter ended Nov 1, 2025</a:t>
            </a:r>
          </a:p>
          <a:p xmlns:a="http://schemas.openxmlformats.org/drawingml/2006/main">
            <a:r>
              <a:t>https://ir.buildabear.com/static-files/beef4f8f-4625-4c9c-8e9d-7bed6e3bb225</a:t>
            </a:r>
          </a:p>
          <a:p xmlns:a="http://schemas.openxmlformats.org/drawingml/2006/main">
            <a:r>
              <a:t>Published 2025-12-11; accessed 2026-09-10</a:t>
            </a:r>
          </a:p>
          <a:p xmlns:a="http://schemas.openxmlformats.org/drawingml/2006/main">
            <a:r>
              <a:t>公司经营模式与目标客群描述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D19 Circana: Global Toy Industry Rebounds in 2025</a:t>
            </a:r>
          </a:p>
          <a:p xmlns:a="http://schemas.openxmlformats.org/drawingml/2006/main">
            <a:r>
              <a:t>https://www.circana.com/post/global-toy-industry-rebounds-in-2025-as-sales-rise-7-fueled-by-pop-culture-collectibles-and-kidu</a:t>
            </a:r>
          </a:p>
          <a:p xmlns:a="http://schemas.openxmlformats.org/drawingml/2006/main">
            <a:r>
              <a:t>Published 2026-01-27; accessed 2026-09-10</a:t>
            </a:r>
          </a:p>
          <a:p xmlns:a="http://schemas.openxmlformats.org/drawingml/2006/main">
            <a:r>
              <a:t>G12追踪市场合计，含美加墨，不提供各国细分值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D20 Daiso USA: September Daiso Deals</a:t>
            </a:r>
          </a:p>
          <a:p xmlns:a="http://schemas.openxmlformats.org/drawingml/2006/main">
            <a:r>
              <a:t>https://daisous.com/blogs/daiso-updates/september-daiso-deals-halloween-sanrio-bt21-and-more</a:t>
            </a:r>
          </a:p>
          <a:p xmlns:a="http://schemas.openxmlformats.org/drawingml/2006/main">
            <a:r>
              <a:t>Published 页面未标明年份; accessed 2026-09-10</a:t>
            </a:r>
          </a:p>
          <a:p xmlns:a="http://schemas.openxmlformats.org/drawingml/2006/main">
            <a:r>
              <a:t>官方活动页存档，价格不是实时门店报价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D21 BoxLunch: Company Info</a:t>
            </a:r>
          </a:p>
          <a:p xmlns:a="http://schemas.openxmlformats.org/drawingml/2006/main">
            <a:r>
              <a:t>https://www.boxlunch.com/customer-service/boxlunch-policies/company-info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官方定位与品牌承诺，非效果测量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D22 MINISO: Brand Profile / brand timeline</a:t>
            </a:r>
          </a:p>
          <a:p xmlns:a="http://schemas.openxmlformats.org/drawingml/2006/main">
            <a:r>
              <a:t>https://www.miniso.com/brand</a:t>
            </a:r>
          </a:p>
          <a:p xmlns:a="http://schemas.openxmlformats.org/drawingml/2006/main">
            <a:r>
              <a:t>Published 动态官网页; accessed 2026-09-10</a:t>
            </a:r>
          </a:p>
          <a:p xmlns:a="http://schemas.openxmlformats.org/drawingml/2006/main">
            <a:r>
              <a:t>企业自述历史门店案例，非当前全网表现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完整URL见本页备注及 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D23 AMVO: Estudio de Venta Online 2026</a:t>
            </a:r>
          </a:p>
          <a:p xmlns:a="http://schemas.openxmlformats.org/drawingml/2006/main">
            <a:r>
              <a:t>https://amvo.org.mx/descarga-evo-2026</a:t>
            </a:r>
          </a:p>
          <a:p xmlns:a="http://schemas.openxmlformats.org/drawingml/2006/main">
            <a:r>
              <a:t>Published 2026; accessed 2026-09-10</a:t>
            </a:r>
          </a:p>
          <a:p xmlns:a="http://schemas.openxmlformats.org/drawingml/2006/main">
            <a:r>
              <a:t>协会原始摘要；全零售电商范围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D24 Statistics Canada: Retail trade, December 2025</a:t>
            </a:r>
          </a:p>
          <a:p xmlns:a="http://schemas.openxmlformats.org/drawingml/2006/main">
            <a:r>
              <a:t>https://www150.statcan.gc.ca/n1/daily-quotidien/260220/dq260220a-eng.htm</a:t>
            </a:r>
          </a:p>
          <a:p xmlns:a="http://schemas.openxmlformats.org/drawingml/2006/main">
            <a:r>
              <a:t>Published 2026-02-20; accessed 2026-09-10</a:t>
            </a:r>
          </a:p>
          <a:p xmlns:a="http://schemas.openxmlformats.org/drawingml/2006/main">
            <a:r>
              <a:t>加拿大零售2025全年及12月口径；初始发布版本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D25 Statistics Canada: Retail trade, June 2026</a:t>
            </a:r>
          </a:p>
          <a:p xmlns:a="http://schemas.openxmlformats.org/drawingml/2006/main">
            <a:r>
              <a:t>https://www150.statcan.gc.ca/n1/daily-quotidien/260821/dq260821a-eng.htm</a:t>
            </a:r>
          </a:p>
          <a:p xmlns:a="http://schemas.openxmlformats.org/drawingml/2006/main">
            <a:r>
              <a:t>Published 2026-08-21; accessed 2026-09-10</a:t>
            </a:r>
          </a:p>
          <a:p xmlns:a="http://schemas.openxmlformats.org/drawingml/2006/main">
            <a:r>
              <a:t>加拿大2026年6月，季调月度数据，可能修订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D26 Five Below: Hello Kitty assortment</a:t>
            </a:r>
          </a:p>
          <a:p xmlns:a="http://schemas.openxmlformats.org/drawingml/2006/main">
            <a:r>
              <a:t>https://www.fivebelow.com/categories/top-brands/hello-kitty</a:t>
            </a:r>
          </a:p>
          <a:p xmlns:a="http://schemas.openxmlformats.org/drawingml/2006/main">
            <a:r>
              <a:t>Published 动态商品页; accessed 2026-09-10</a:t>
            </a:r>
          </a:p>
          <a:p xmlns:a="http://schemas.openxmlformats.org/drawingml/2006/main">
            <a:r>
              <a:t>美国官网系列目录，非销售或门店库存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IDs: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Analysis: 完整URL见本页备注及 sources.json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b517e44e42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86008dfe7b4f2f" /><Relationship Type="http://schemas.openxmlformats.org/officeDocument/2006/relationships/slideLayout" Target="/ppt/slideLayouts/slideLayout1.xml" Id="R7405e0b6afe5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05e0b6afe5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133b6b243451e" /><Relationship Type="http://schemas.openxmlformats.org/officeDocument/2006/relationships/notesSlide" Target="/ppt/notesSlides/notesSlide1.xml" Id="R05973a06e30a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7236f18c54ba0" /><Relationship Type="http://schemas.openxmlformats.org/officeDocument/2006/relationships/notesSlide" Target="/ppt/notesSlides/notesSlide2.xml" Id="Recf9c29a696446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fb8e3ef594a86" /><Relationship Type="http://schemas.openxmlformats.org/officeDocument/2006/relationships/hyperlink" Target="https://www.circana.com/post/us-toy-industry-posts-strongest-first-half-in-six-years-circana-reports" TargetMode="External" Id="R2c503d28ec82421b" /><Relationship Type="http://schemas.openxmlformats.org/officeDocument/2006/relationships/hyperlink" Target="https://www.deloitte.com/content/dam/insights/articles/2025/us188488_cic-holiday-retail/pdf/DI_2025-Holiday-Survey.pdf" TargetMode="External" Id="R078d9201b1714df4" /><Relationship Type="http://schemas.openxmlformats.org/officeDocument/2006/relationships/hyperlink" Target="https://www.miniso.com.mx/sanrio/cinnamoroll" TargetMode="External" Id="R98ee6d06c1bf4cb6" /><Relationship Type="http://schemas.openxmlformats.org/officeDocument/2006/relationships/hyperlink" Target="https://daisous.com/blogs/daiso-updates/september-daiso-deals-halloween-sanrio-bt21-and-more" TargetMode="External" Id="R99bbbe6968794f45" /><Relationship Type="http://schemas.openxmlformats.org/officeDocument/2006/relationships/hyperlink" Target="https://www150.statcan.gc.ca/n1/daily-quotidien/260821/dq260821a-eng.htm" TargetMode="External" Id="Rf863674f8f934a9d" /><Relationship Type="http://schemas.openxmlformats.org/officeDocument/2006/relationships/hyperlink" Target="https://www.fivebelow.com/categories/top-brands/hello-kitty" TargetMode="External" Id="Recbc01a9a9b84f7b" /><Relationship Type="http://schemas.openxmlformats.org/officeDocument/2006/relationships/notesSlide" Target="/ppt/notesSlides/notesSlide3.xml" Id="R79df78c634d440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3f39758df43e8" /><Relationship Type="http://schemas.openxmlformats.org/officeDocument/2006/relationships/hyperlink" Target="https://www.popmart.com/us/products/675/the-monsters-exciting-macaron-vinyl-face-blind-box" TargetMode="External" Id="R9a6bf90e33314f7c" /><Relationship Type="http://schemas.openxmlformats.org/officeDocument/2006/relationships/hyperlink" Target="https://www.miniso.com.mx/sanrio/cinnamoroll" TargetMode="External" Id="Rf70e8abac7fa4067" /><Relationship Type="http://schemas.openxmlformats.org/officeDocument/2006/relationships/hyperlink" Target="https://ir.buildabear.com/static-files/beef4f8f-4625-4c9c-8e9d-7bed6e3bb225" TargetMode="External" Id="R6912e3990f3144f5" /><Relationship Type="http://schemas.openxmlformats.org/officeDocument/2006/relationships/hyperlink" Target="https://daisous.com/blogs/daiso-updates/september-daiso-deals-halloween-sanrio-bt21-and-more" TargetMode="External" Id="Rcc01877cac594fb1" /><Relationship Type="http://schemas.openxmlformats.org/officeDocument/2006/relationships/hyperlink" Target="https://www.boxlunch.com/customer-service/boxlunch-policies/company-info" TargetMode="External" Id="Rae3c8937afd94a76" /><Relationship Type="http://schemas.openxmlformats.org/officeDocument/2006/relationships/hyperlink" Target="https://www.fivebelow.com/categories/top-brands/hello-kitty" TargetMode="External" Id="R1a5d584314d44c97" /><Relationship Type="http://schemas.openxmlformats.org/officeDocument/2006/relationships/notesSlide" Target="/ppt/notesSlides/notesSlide4.xml" Id="R258a2c8338494d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5f01a5940493e" /><Relationship Type="http://schemas.openxmlformats.org/officeDocument/2006/relationships/hyperlink" Target="https://www.circana.com/post/u-s-toy-industry-returns-to-growth-in-2025-circana-reports" TargetMode="External" Id="R99fe9ce375b34f0e" /><Relationship Type="http://schemas.openxmlformats.org/officeDocument/2006/relationships/hyperlink" Target="https://www.circana.com/post/global-toy-industry-rebounds-in-2025-as-sales-rise-7-fueled-by-pop-culture-collectibles-and-kidu" TargetMode="External" Id="Ref850e62d12d44e7" /><Relationship Type="http://schemas.openxmlformats.org/officeDocument/2006/relationships/hyperlink" Target="https://amvo.org.mx/descarga-evo-2026" TargetMode="External" Id="Rd87254d7cce7462b" /><Relationship Type="http://schemas.openxmlformats.org/officeDocument/2006/relationships/hyperlink" Target="https://www150.statcan.gc.ca/n1/daily-quotidien/260220/dq260220a-eng.htm" TargetMode="External" Id="Rbb03165eba0744ed" /><Relationship Type="http://schemas.openxmlformats.org/officeDocument/2006/relationships/notesSlide" Target="/ppt/notesSlides/notesSlide5.xml" Id="Rbf15538200ef4b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0a308bb940ce" /><Relationship Type="http://schemas.openxmlformats.org/officeDocument/2006/relationships/chart" Target="/ppt/slides/charts/chart1.xml" Id="Re05e0f8b444541ba" /><Relationship Type="http://schemas.openxmlformats.org/officeDocument/2006/relationships/hyperlink" Target="https://www.circana.com/post/u-s-toy-industry-returns-to-growth-in-2025-circana-reports" TargetMode="External" Id="R295294a3343d4e5b" /><Relationship Type="http://schemas.openxmlformats.org/officeDocument/2006/relationships/hyperlink" Target="https://www.circana.com/post/us-toy-industry-posts-strongest-first-half-in-six-years-circana-reports" TargetMode="External" Id="R9c533883544e46ea" /><Relationship Type="http://schemas.openxmlformats.org/officeDocument/2006/relationships/notesSlide" Target="/ppt/notesSlides/notesSlide6.xml" Id="R2099076f8c0048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b922aeb9d47b6" /><Relationship Type="http://schemas.openxmlformats.org/officeDocument/2006/relationships/chart" Target="/ppt/slides/charts/chart2.xml" Id="Rf6afc181644f4475" /><Relationship Type="http://schemas.openxmlformats.org/officeDocument/2006/relationships/hyperlink" Target="https://www.circana.com/post/u-s-toy-industry-returns-to-growth-in-2025-circana-reports" TargetMode="External" Id="R721cb474e2e0407d" /><Relationship Type="http://schemas.openxmlformats.org/officeDocument/2006/relationships/notesSlide" Target="/ppt/notesSlides/notesSlide7.xml" Id="Rdae8139cccb248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cec6df8e94068" /><Relationship Type="http://schemas.openxmlformats.org/officeDocument/2006/relationships/chart" Target="/ppt/slides/charts/chart3.xml" Id="Ra45f5524474f4f61" /><Relationship Type="http://schemas.openxmlformats.org/officeDocument/2006/relationships/hyperlink" Target="https://www.circana.com/post/us-toy-industry-posts-strongest-first-half-in-six-years-circana-reports" TargetMode="External" Id="Rff976da25ab24fe6" /><Relationship Type="http://schemas.openxmlformats.org/officeDocument/2006/relationships/notesSlide" Target="/ppt/notesSlides/notesSlide8.xml" Id="R5981ffe0db7f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ecb448a684ba1" /><Relationship Type="http://schemas.openxmlformats.org/officeDocument/2006/relationships/chart" Target="/ppt/slides/charts/chart4.xml" Id="R60986c25509f4782" /><Relationship Type="http://schemas.openxmlformats.org/officeDocument/2006/relationships/hyperlink" Target="https://www.circana.com/post/us-toy-industry-posts-strongest-first-half-in-six-years-circana-reports" TargetMode="External" Id="R2d173706ea5142e2" /><Relationship Type="http://schemas.openxmlformats.org/officeDocument/2006/relationships/notesSlide" Target="/ppt/notesSlides/notesSlide9.xml" Id="Rbbffdb34370d4a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35e07f6df4e6d" /><Relationship Type="http://schemas.openxmlformats.org/officeDocument/2006/relationships/chart" Target="/ppt/slides/charts/chart5.xml" Id="Raacf85f653f04fc1" /><Relationship Type="http://schemas.openxmlformats.org/officeDocument/2006/relationships/hyperlink" Target="https://www.circana.com/post/us-toy-industry-posts-strongest-first-half-in-six-years-circana-reports" TargetMode="External" Id="Rc335d9c97172425c" /><Relationship Type="http://schemas.openxmlformats.org/officeDocument/2006/relationships/notesSlide" Target="/ppt/notesSlides/notesSlide10.xml" Id="R6e73ee93d300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cbf92408d4797" /><Relationship Type="http://schemas.openxmlformats.org/officeDocument/2006/relationships/chart" Target="/ppt/slides/charts/chart6.xml" Id="R6924c1f7d3e84c86" /><Relationship Type="http://schemas.openxmlformats.org/officeDocument/2006/relationships/hyperlink" Target="https://www.deloitte.com/content/dam/insights/articles/2025/us188488_cic-holiday-retail/pdf/DI_2025-Holiday-Survey.pdf" TargetMode="External" Id="Re6eb289b509c4bdd" /><Relationship Type="http://schemas.openxmlformats.org/officeDocument/2006/relationships/notesSlide" Target="/ppt/notesSlides/notesSlide11.xml" Id="Rfbbea949729241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d72f110fa41d2" /><Relationship Type="http://schemas.openxmlformats.org/officeDocument/2006/relationships/hyperlink" Target="https://www.deloitte.com/content/dam/insights/articles/2025/us188488_cic-holiday-retail/pdf/DI_2025-Holiday-Survey.pdf" TargetMode="External" Id="Rabe2ad43f8914f05" /><Relationship Type="http://schemas.openxmlformats.org/officeDocument/2006/relationships/hyperlink" Target="https://www.popmart.com/us/products/675/the-monsters-exciting-macaron-vinyl-face-blind-box" TargetMode="External" Id="R295f5e85c9564441" /><Relationship Type="http://schemas.openxmlformats.org/officeDocument/2006/relationships/hyperlink" Target="https://us.jellycat.com/amuseables-moon" TargetMode="External" Id="R14685e2c31ea41ed" /><Relationship Type="http://schemas.openxmlformats.org/officeDocument/2006/relationships/hyperlink" Target="https://ir.buildabear.com/static-files/beef4f8f-4625-4c9c-8e9d-7bed6e3bb225" TargetMode="External" Id="Ra48691313d3640f9" /><Relationship Type="http://schemas.openxmlformats.org/officeDocument/2006/relationships/notesSlide" Target="/ppt/notesSlides/notesSlide12.xml" Id="R91ce5dae300646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6cb99dec34ce0" /><Relationship Type="http://schemas.openxmlformats.org/officeDocument/2006/relationships/hyperlink" Target="https://www.miniso.com.mx/sanrio/cinnamoroll" TargetMode="External" Id="Rd63452fef7724f20" /><Relationship Type="http://schemas.openxmlformats.org/officeDocument/2006/relationships/hyperlink" Target="https://daisous.com/blogs/daiso-updates/september-daiso-deals-halloween-sanrio-bt21-and-more" TargetMode="External" Id="R051a320d81ac437e" /><Relationship Type="http://schemas.openxmlformats.org/officeDocument/2006/relationships/hyperlink" Target="https://www.fivebelow.com/categories/top-brands/hello-kitty" TargetMode="External" Id="R0430a68684614d9c" /><Relationship Type="http://schemas.openxmlformats.org/officeDocument/2006/relationships/notesSlide" Target="/ppt/notesSlides/notesSlide13.xml" Id="R4822a47703b14f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378af10e64e5e" /><Relationship Type="http://schemas.openxmlformats.org/officeDocument/2006/relationships/hyperlink" Target="https://www.dollarama.com/en-CA/corp/wp-content/uploads/2026/04/Investor-Presentation-2026-03-24-FY26Q4-vF.pdf" TargetMode="External" Id="R9970d67a2e584bc0" /><Relationship Type="http://schemas.openxmlformats.org/officeDocument/2006/relationships/hyperlink" Target="https://www.popmart.com/us/products/675/the-monsters-exciting-macaron-vinyl-face-blind-box" TargetMode="External" Id="R4c16aab0a43045bb" /><Relationship Type="http://schemas.openxmlformats.org/officeDocument/2006/relationships/hyperlink" Target="https://us.jellycat.com/amuseables-moon" TargetMode="External" Id="R4c2155400a7440aa" /><Relationship Type="http://schemas.openxmlformats.org/officeDocument/2006/relationships/hyperlink" Target="https://www.lego.com/en-us/aboutus/news/2026/august/strong-demand-and-brand-relevance-drive-lego-group-revenue-up-21-operating-profit-up-22-in-h1-2026" TargetMode="External" Id="R14b1247bbd214373" /><Relationship Type="http://schemas.openxmlformats.org/officeDocument/2006/relationships/hyperlink" Target="https://ir.buildabear.com/static-files/beef4f8f-4625-4c9c-8e9d-7bed6e3bb225" TargetMode="External" Id="Rf7da44cbec1c4712" /><Relationship Type="http://schemas.openxmlformats.org/officeDocument/2006/relationships/hyperlink" Target="https://daisous.com/blogs/daiso-updates/september-daiso-deals-halloween-sanrio-bt21-and-more" TargetMode="External" Id="R686feadc12d54461" /><Relationship Type="http://schemas.openxmlformats.org/officeDocument/2006/relationships/hyperlink" Target="https://www.boxlunch.com/customer-service/boxlunch-policies/company-info" TargetMode="External" Id="Rea66836552af4f65" /><Relationship Type="http://schemas.openxmlformats.org/officeDocument/2006/relationships/hyperlink" Target="https://www.fivebelow.com/categories/top-brands/hello-kitty" TargetMode="External" Id="R31d1389d55f04f47" /><Relationship Type="http://schemas.openxmlformats.org/officeDocument/2006/relationships/notesSlide" Target="/ppt/notesSlides/notesSlide14.xml" Id="R54091c68b4e34d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8b5d8058a4a47" /><Relationship Type="http://schemas.openxmlformats.org/officeDocument/2006/relationships/chart" Target="/ppt/slides/charts/chart7.xml" Id="R0e23b1ee90954750" /><Relationship Type="http://schemas.openxmlformats.org/officeDocument/2006/relationships/hyperlink" Target="https://ir.miniso.com/image/MINISO+2026+Q2%26H1+ER_EN.pdf" TargetMode="External" Id="R43a00cd35ca9403e" /><Relationship Type="http://schemas.openxmlformats.org/officeDocument/2006/relationships/notesSlide" Target="/ppt/notesSlides/notesSlide15.xml" Id="R52f369863d044a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5b8e9e0774916" /><Relationship Type="http://schemas.openxmlformats.org/officeDocument/2006/relationships/hyperlink" Target="https://ir.miniso.com/image/MINISO+2026+Q2%26H1+ER_EN.pdf" TargetMode="External" Id="R9a7982ab56f14f2b" /><Relationship Type="http://schemas.openxmlformats.org/officeDocument/2006/relationships/hyperlink" Target="https://miniso.ca" TargetMode="External" Id="R7084f29420f5462b" /><Relationship Type="http://schemas.openxmlformats.org/officeDocument/2006/relationships/hyperlink" Target="https://www.miniso.com.mx/sanrio/cinnamoroll" TargetMode="External" Id="R7c1a11b4c1774a6e" /><Relationship Type="http://schemas.openxmlformats.org/officeDocument/2006/relationships/hyperlink" Target="https://www.miniso.com/brand" TargetMode="External" Id="R67f15c77095749ee" /><Relationship Type="http://schemas.openxmlformats.org/officeDocument/2006/relationships/notesSlide" Target="/ppt/notesSlides/notesSlide16.xml" Id="R46c7b8e1fa81473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74547a164969" /><Relationship Type="http://schemas.openxmlformats.org/officeDocument/2006/relationships/chart" Target="/ppt/slides/charts/chart8.xml" Id="R094f111a62b44139" /><Relationship Type="http://schemas.openxmlformats.org/officeDocument/2006/relationships/hyperlink" Target="https://investor.fivebelow.com/news/press-release-details/2026/Five-Below-Inc--Announces-Fourth-Quarter-and-Fiscal-2025-Financial-Results/default.aspx" TargetMode="External" Id="R8b3ee581876a4b41" /><Relationship Type="http://schemas.openxmlformats.org/officeDocument/2006/relationships/hyperlink" Target="https://www.fivebelow.com/categories/top-brands/hello-kitty" TargetMode="External" Id="Rf11d73e2afe44326" /><Relationship Type="http://schemas.openxmlformats.org/officeDocument/2006/relationships/notesSlide" Target="/ppt/notesSlides/notesSlide17.xml" Id="R1cfa9c8c214646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5b3002384be4" /><Relationship Type="http://schemas.openxmlformats.org/officeDocument/2006/relationships/hyperlink" Target="https://investor.fivebelow.com/news/press-release-details/2026/Five-Below-Inc--Announces-Fourth-Quarter-and-Fiscal-2025-Financial-Results/default.aspx" TargetMode="External" Id="Rd185db7b13674e8e" /><Relationship Type="http://schemas.openxmlformats.org/officeDocument/2006/relationships/hyperlink" Target="https://www.fivebelow.com/categories/top-brands/hello-kitty" TargetMode="External" Id="Rbdd63852e57e4e5b" /><Relationship Type="http://schemas.openxmlformats.org/officeDocument/2006/relationships/notesSlide" Target="/ppt/notesSlides/notesSlide18.xml" Id="R21d5ee6d4fda4b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612d69fe4296" /><Relationship Type="http://schemas.openxmlformats.org/officeDocument/2006/relationships/chart" Target="/ppt/slides/charts/chart9.xml" Id="R9f1948d35bdc4ed4" /><Relationship Type="http://schemas.openxmlformats.org/officeDocument/2006/relationships/hyperlink" Target="https://www1.hkexnews.hk/listedco/listconews/sehk/2026/0325/2026032500285.pdf" TargetMode="External" Id="R992bf46e9dd4483e" /><Relationship Type="http://schemas.openxmlformats.org/officeDocument/2006/relationships/notesSlide" Target="/ppt/notesSlides/notesSlide19.xml" Id="R711e0249e019494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2039c09734745" /><Relationship Type="http://schemas.openxmlformats.org/officeDocument/2006/relationships/chart" Target="/ppt/slides/charts/chart10.xml" Id="R6dffa6aa1eb74dbe" /><Relationship Type="http://schemas.openxmlformats.org/officeDocument/2006/relationships/hyperlink" Target="https://www.popmart.com/us/products/675/the-monsters-exciting-macaron-vinyl-face-blind-box" TargetMode="External" Id="R257c1b38a01c41ef" /><Relationship Type="http://schemas.openxmlformats.org/officeDocument/2006/relationships/notesSlide" Target="/ppt/notesSlides/notesSlide20.xml" Id="Rebd277a4e99440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599dda2854ceb" /><Relationship Type="http://schemas.openxmlformats.org/officeDocument/2006/relationships/image" Target="/ppt/media/image.bin" Id="R86d22ad0d6e04fe6" /><Relationship Type="http://schemas.openxmlformats.org/officeDocument/2006/relationships/hyperlink" Target="https://us.jellycat.com/amuseables-moon" TargetMode="External" Id="R10be44730c884345" /><Relationship Type="http://schemas.openxmlformats.org/officeDocument/2006/relationships/notesSlide" Target="/ppt/notesSlides/notesSlide21.xml" Id="R149ec744a3484d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9dc31df954631" /><Relationship Type="http://schemas.openxmlformats.org/officeDocument/2006/relationships/chart" Target="/ppt/slides/charts/chart11.xml" Id="R5d7e502824734468" /><Relationship Type="http://schemas.openxmlformats.org/officeDocument/2006/relationships/hyperlink" Target="https://www.lego.com/en-us/aboutus/news/2026/august/strong-demand-and-brand-relevance-drive-lego-group-revenue-up-21-operating-profit-up-22-in-h1-2026" TargetMode="External" Id="R94580943c1ec4afd" /><Relationship Type="http://schemas.openxmlformats.org/officeDocument/2006/relationships/notesSlide" Target="/ppt/notesSlides/notesSlide22.xml" Id="R3cf631cf188548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02d9e2bd64e28" /><Relationship Type="http://schemas.openxmlformats.org/officeDocument/2006/relationships/hyperlink" Target="https://www.lego.com/en-us/aboutus/news/2026/august/strong-demand-and-brand-relevance-drive-lego-group-revenue-up-21-operating-profit-up-22-in-h1-2026" TargetMode="External" Id="R8784e859c3ec49da" /><Relationship Type="http://schemas.openxmlformats.org/officeDocument/2006/relationships/notesSlide" Target="/ppt/notesSlides/notesSlide23.xml" Id="R07d7b954e0054f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aaac4904e4cb4" /><Relationship Type="http://schemas.openxmlformats.org/officeDocument/2006/relationships/hyperlink" Target="https://ir.buildabear.com/static-files/beef4f8f-4625-4c9c-8e9d-7bed6e3bb225" TargetMode="External" Id="Re83fe8ff8bbd495f" /><Relationship Type="http://schemas.openxmlformats.org/officeDocument/2006/relationships/notesSlide" Target="/ppt/notesSlides/notesSlide24.xml" Id="Re892690061954ae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e1982362c449d" /><Relationship Type="http://schemas.openxmlformats.org/officeDocument/2006/relationships/hyperlink" Target="https://daisous.com/pages/faq" TargetMode="External" Id="R6a70de7bf1d848cd" /><Relationship Type="http://schemas.openxmlformats.org/officeDocument/2006/relationships/hyperlink" Target="https://daisous.com/blogs/daiso-updates/september-daiso-deals-halloween-sanrio-bt21-and-more" TargetMode="External" Id="Rde55844acf804ddb" /><Relationship Type="http://schemas.openxmlformats.org/officeDocument/2006/relationships/notesSlide" Target="/ppt/notesSlides/notesSlide25.xml" Id="R490e969c586242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2cb86db644968" /><Relationship Type="http://schemas.openxmlformats.org/officeDocument/2006/relationships/hyperlink" Target="https://www.dollarama.com/en-CA/corp/wp-content/uploads/2026/04/Investor-Presentation-2026-03-24-FY26Q4-vF.pdf" TargetMode="External" Id="R8d53f4ccbf7e4f45" /><Relationship Type="http://schemas.openxmlformats.org/officeDocument/2006/relationships/notesSlide" Target="/ppt/notesSlides/notesSlide26.xml" Id="R2a4e9ac1d5aa40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0dc09c679487a" /><Relationship Type="http://schemas.openxmlformats.org/officeDocument/2006/relationships/hyperlink" Target="https://www.boxlunch.com/customer-service/boxlunch-policies/company-info" TargetMode="External" Id="R200d150e65e44d6a" /><Relationship Type="http://schemas.openxmlformats.org/officeDocument/2006/relationships/notesSlide" Target="/ppt/notesSlides/notesSlide27.xml" Id="R6deffe4187114c2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5b95948484940" /><Relationship Type="http://schemas.openxmlformats.org/officeDocument/2006/relationships/hyperlink" Target="https://www.popmart.com/us/products/675/the-monsters-exciting-macaron-vinyl-face-blind-box" TargetMode="External" Id="R5031e7f319f24238" /><Relationship Type="http://schemas.openxmlformats.org/officeDocument/2006/relationships/hyperlink" Target="https://us.jellycat.com/amuseables-moon" TargetMode="External" Id="R0782314b7a9a4a2a" /><Relationship Type="http://schemas.openxmlformats.org/officeDocument/2006/relationships/hyperlink" Target="https://www.lego.com/en-us/aboutus/news/2026/august/strong-demand-and-brand-relevance-drive-lego-group-revenue-up-21-operating-profit-up-22-in-h1-2026" TargetMode="External" Id="R839f3b449a6e4005" /><Relationship Type="http://schemas.openxmlformats.org/officeDocument/2006/relationships/hyperlink" Target="https://ir.buildabear.com/static-files/beef4f8f-4625-4c9c-8e9d-7bed6e3bb225" TargetMode="External" Id="R367eca19af8f422a" /><Relationship Type="http://schemas.openxmlformats.org/officeDocument/2006/relationships/hyperlink" Target="https://daisous.com/blogs/daiso-updates/september-daiso-deals-halloween-sanrio-bt21-and-more" TargetMode="External" Id="R66e2e11c0a12406b" /><Relationship Type="http://schemas.openxmlformats.org/officeDocument/2006/relationships/hyperlink" Target="https://www.boxlunch.com/customer-service/boxlunch-policies/company-info" TargetMode="External" Id="Ra3323ea573fc492b" /><Relationship Type="http://schemas.openxmlformats.org/officeDocument/2006/relationships/notesSlide" Target="/ppt/notesSlides/notesSlide28.xml" Id="R76cfd765cd9d43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60844095940e1" /><Relationship Type="http://schemas.openxmlformats.org/officeDocument/2006/relationships/hyperlink" Target="https://www.dollarama.com/en-CA/corp/wp-content/uploads/2026/04/Investor-Presentation-2026-03-24-FY26Q4-vF.pdf" TargetMode="External" Id="R7882192198894c76" /><Relationship Type="http://schemas.openxmlformats.org/officeDocument/2006/relationships/hyperlink" Target="https://www.popmart.com/us/products/675/the-monsters-exciting-macaron-vinyl-face-blind-box" TargetMode="External" Id="Ra0112dd28802481f" /><Relationship Type="http://schemas.openxmlformats.org/officeDocument/2006/relationships/hyperlink" Target="https://us.jellycat.com/amuseables-moon" TargetMode="External" Id="R7127d158ca3a430c" /><Relationship Type="http://schemas.openxmlformats.org/officeDocument/2006/relationships/hyperlink" Target="https://daisous.com/blogs/daiso-updates/september-daiso-deals-halloween-sanrio-bt21-and-more" TargetMode="External" Id="Re691d5404df6459c" /><Relationship Type="http://schemas.openxmlformats.org/officeDocument/2006/relationships/notesSlide" Target="/ppt/notesSlides/notesSlide29.xml" Id="Ra638a0bfe3fb41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0ccd3f1374f11" /><Relationship Type="http://schemas.openxmlformats.org/officeDocument/2006/relationships/chart" Target="/ppt/slides/charts/chart12.xml" Id="Rc458fafcb6d94270" /><Relationship Type="http://schemas.openxmlformats.org/officeDocument/2006/relationships/hyperlink" Target="https://www150.statcan.gc.ca/n1/daily-quotidien/260220/dq260220a-eng.htm" TargetMode="External" Id="R4b31cffd8f0a4c18" /><Relationship Type="http://schemas.openxmlformats.org/officeDocument/2006/relationships/notesSlide" Target="/ppt/notesSlides/notesSlide30.xml" Id="Re044091148da4fc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a4819293644ed" /><Relationship Type="http://schemas.openxmlformats.org/officeDocument/2006/relationships/chart" Target="/ppt/slides/charts/chart13.xml" Id="R6ae1ee055c664a4d" /><Relationship Type="http://schemas.openxmlformats.org/officeDocument/2006/relationships/hyperlink" Target="https://www150.statcan.gc.ca/n1/daily-quotidien/260821/dq260821a-eng.htm" TargetMode="External" Id="R4db7d58480b54b74" /><Relationship Type="http://schemas.openxmlformats.org/officeDocument/2006/relationships/notesSlide" Target="/ppt/notesSlides/notesSlide31.xml" Id="Rf81e859034b847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b8eec9fbe4983" /><Relationship Type="http://schemas.openxmlformats.org/officeDocument/2006/relationships/hyperlink" Target="https://www.dollarama.com/en-CA/corp/wp-content/uploads/2026/04/Investor-Presentation-2026-03-24-FY26Q4-vF.pdf" TargetMode="External" Id="R34c8092a1ec74500" /><Relationship Type="http://schemas.openxmlformats.org/officeDocument/2006/relationships/hyperlink" Target="https://miniso.ca" TargetMode="External" Id="R530bde6a3662447a" /><Relationship Type="http://schemas.openxmlformats.org/officeDocument/2006/relationships/hyperlink" Target="https://miniso-ca.com/pages/wholesale" TargetMode="External" Id="R691780c1ae03492e" /><Relationship Type="http://schemas.openxmlformats.org/officeDocument/2006/relationships/hyperlink" Target="https://www.miniso.com/brand" TargetMode="External" Id="Rc97320a5af8b47b8" /><Relationship Type="http://schemas.openxmlformats.org/officeDocument/2006/relationships/notesSlide" Target="/ppt/notesSlides/notesSlide32.xml" Id="Rddb6028e0a1b423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cff088b0e4cef" /><Relationship Type="http://schemas.openxmlformats.org/officeDocument/2006/relationships/hyperlink" Target="https://www.dollarama.com/en-CA/corp/wp-content/uploads/2026/04/Investor-Presentation-2026-03-24-FY26Q4-vF.pdf" TargetMode="External" Id="R230116dd625c4c68" /><Relationship Type="http://schemas.openxmlformats.org/officeDocument/2006/relationships/hyperlink" Target="https://miniso.ca" TargetMode="External" Id="Rd2fc1935b3194bde" /><Relationship Type="http://schemas.openxmlformats.org/officeDocument/2006/relationships/hyperlink" Target="https://www.miniso.com/brand" TargetMode="External" Id="R2511e3277fa24d7b" /><Relationship Type="http://schemas.openxmlformats.org/officeDocument/2006/relationships/notesSlide" Target="/ppt/notesSlides/notesSlide33.xml" Id="Rce4fdb64eb2e4a2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c0e4bd764f9d" /><Relationship Type="http://schemas.openxmlformats.org/officeDocument/2006/relationships/hyperlink" Target="https://www.miniso.com.mx/faq" TargetMode="External" Id="Rdf69580801854d62" /><Relationship Type="http://schemas.openxmlformats.org/officeDocument/2006/relationships/hyperlink" Target="https://amvo.org.mx/descarga-evo-2026" TargetMode="External" Id="Ra617b3d8a81246d4" /><Relationship Type="http://schemas.openxmlformats.org/officeDocument/2006/relationships/notesSlide" Target="/ppt/notesSlides/notesSlide34.xml" Id="Rc6557516af5347f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f6fec61f473a" /><Relationship Type="http://schemas.openxmlformats.org/officeDocument/2006/relationships/hyperlink" Target="https://www.miniso.com.mx/sanrio/cinnamoroll" TargetMode="External" Id="Rc1c38dd2afb6493c" /><Relationship Type="http://schemas.openxmlformats.org/officeDocument/2006/relationships/notesSlide" Target="/ppt/notesSlides/notesSlide35.xml" Id="R681575d456ac41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67c7182324745" /><Relationship Type="http://schemas.openxmlformats.org/officeDocument/2006/relationships/hyperlink" Target="https://www.miniso.com.mx/faq" TargetMode="External" Id="Rf23d04036e4642b0" /><Relationship Type="http://schemas.openxmlformats.org/officeDocument/2006/relationships/hyperlink" Target="https://www.miniso.com.mx/sanrio/cinnamoroll" TargetMode="External" Id="R200b1d40d4c942ae" /><Relationship Type="http://schemas.openxmlformats.org/officeDocument/2006/relationships/notesSlide" Target="/ppt/notesSlides/notesSlide36.xml" Id="R6670d3cd2b464ca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9e49ff8b542c3" /><Relationship Type="http://schemas.openxmlformats.org/officeDocument/2006/relationships/hyperlink" Target="https://www.dollarama.com/en-CA/corp/wp-content/uploads/2026/04/Investor-Presentation-2026-03-24-FY26Q4-vF.pdf" TargetMode="External" Id="Rdd1bb49b2b614a6b" /><Relationship Type="http://schemas.openxmlformats.org/officeDocument/2006/relationships/hyperlink" Target="https://mumusomx.com/directorio-2" TargetMode="External" Id="R2ac47c6997074aa9" /><Relationship Type="http://schemas.openxmlformats.org/officeDocument/2006/relationships/hyperlink" Target="https://www.miniso.com.mx/sanrio/cinnamoroll" TargetMode="External" Id="Rb65b93ee430840ac" /><Relationship Type="http://schemas.openxmlformats.org/officeDocument/2006/relationships/notesSlide" Target="/ppt/notesSlides/notesSlide37.xml" Id="R7c7972f5e2e945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af5bdc5364943" /><Relationship Type="http://schemas.openxmlformats.org/officeDocument/2006/relationships/hyperlink" Target="https://www.circana.com/post/us-toy-industry-posts-strongest-first-half-in-six-years-circana-reports" TargetMode="External" Id="Rf3a3120ea7954691" /><Relationship Type="http://schemas.openxmlformats.org/officeDocument/2006/relationships/hyperlink" Target="https://www.dollarama.com/en-CA/corp/wp-content/uploads/2026/04/Investor-Presentation-2026-03-24-FY26Q4-vF.pdf" TargetMode="External" Id="R49a9bea711d24c93" /><Relationship Type="http://schemas.openxmlformats.org/officeDocument/2006/relationships/hyperlink" Target="https://www.miniso.com.mx/faq" TargetMode="External" Id="R13e53aab1757473a" /><Relationship Type="http://schemas.openxmlformats.org/officeDocument/2006/relationships/hyperlink" Target="https://www.miniso.com.mx/sanrio/cinnamoroll" TargetMode="External" Id="R722dd1ea421b4e65" /><Relationship Type="http://schemas.openxmlformats.org/officeDocument/2006/relationships/hyperlink" Target="https://www.miniso.com/brand" TargetMode="External" Id="R7816253bb9a54ead" /><Relationship Type="http://schemas.openxmlformats.org/officeDocument/2006/relationships/hyperlink" Target="https://www150.statcan.gc.ca/n1/daily-quotidien/260821/dq260821a-eng.htm" TargetMode="External" Id="R41a50d5f27a34b36" /><Relationship Type="http://schemas.openxmlformats.org/officeDocument/2006/relationships/hyperlink" Target="https://www.fivebelow.com/categories/top-brands/hello-kitty" TargetMode="External" Id="Rdc7cc4e302354fb6" /><Relationship Type="http://schemas.openxmlformats.org/officeDocument/2006/relationships/notesSlide" Target="/ppt/notesSlides/notesSlide38.xml" Id="Rec3b5399b1b34b9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e100272dc413e" /><Relationship Type="http://schemas.openxmlformats.org/officeDocument/2006/relationships/hyperlink" Target="https://www.circana.com/post/u-s-toy-industry-returns-to-growth-in-2025-circana-reports" TargetMode="External" Id="Rc8a77587eab44471" /><Relationship Type="http://schemas.openxmlformats.org/officeDocument/2006/relationships/hyperlink" Target="https://www.circana.com/post/us-toy-industry-posts-strongest-first-half-in-six-years-circana-reports" TargetMode="External" Id="Rc4db60e23dc3432b" /><Relationship Type="http://schemas.openxmlformats.org/officeDocument/2006/relationships/hyperlink" Target="https://www.deloitte.com/content/dam/insights/articles/2025/us188488_cic-holiday-retail/pdf/DI_2025-Holiday-Survey.pdf" TargetMode="External" Id="Ra40f9db0896d4767" /><Relationship Type="http://schemas.openxmlformats.org/officeDocument/2006/relationships/hyperlink" Target="https://daisous.com/blogs/daiso-updates/september-daiso-deals-halloween-sanrio-bt21-and-more" TargetMode="External" Id="R084fc302c6d04df5" /><Relationship Type="http://schemas.openxmlformats.org/officeDocument/2006/relationships/hyperlink" Target="https://www.fivebelow.com/categories/top-brands/hello-kitty" TargetMode="External" Id="Ref042c992b1f4606" /><Relationship Type="http://schemas.openxmlformats.org/officeDocument/2006/relationships/notesSlide" Target="/ppt/notesSlides/notesSlide39.xml" Id="R0bb64b03e751406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ae6700b834b5e" /><Relationship Type="http://schemas.openxmlformats.org/officeDocument/2006/relationships/hyperlink" Target="https://www.dollarama.com/en-CA/corp/wp-content/uploads/2026/04/Investor-Presentation-2026-03-24-FY26Q4-vF.pdf" TargetMode="External" Id="R7cc2f2faf3784fbb" /><Relationship Type="http://schemas.openxmlformats.org/officeDocument/2006/relationships/hyperlink" Target="https://miniso.ca" TargetMode="External" Id="Rdc6baeded8c0430a" /><Relationship Type="http://schemas.openxmlformats.org/officeDocument/2006/relationships/hyperlink" Target="https://www.miniso.com/brand" TargetMode="External" Id="R6b5ddd6540e041ac" /><Relationship Type="http://schemas.openxmlformats.org/officeDocument/2006/relationships/notesSlide" Target="/ppt/notesSlides/notesSlide40.xml" Id="Rfb6673a5824643d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e01aebce94f2f" /><Relationship Type="http://schemas.openxmlformats.org/officeDocument/2006/relationships/hyperlink" Target="https://www.miniso.com.mx/faq" TargetMode="External" Id="R9feb5b41ef474eb5" /><Relationship Type="http://schemas.openxmlformats.org/officeDocument/2006/relationships/hyperlink" Target="https://www.miniso.com.mx/sanrio/cinnamoroll" TargetMode="External" Id="R2d8962f439b24d64" /><Relationship Type="http://schemas.openxmlformats.org/officeDocument/2006/relationships/hyperlink" Target="https://amvo.org.mx/descarga-evo-2026" TargetMode="External" Id="R6ce6aa404b0b4be9" /><Relationship Type="http://schemas.openxmlformats.org/officeDocument/2006/relationships/notesSlide" Target="/ppt/notesSlides/notesSlide41.xml" Id="R2d61712885a74ac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73f2ea592407e" /><Relationship Type="http://schemas.openxmlformats.org/officeDocument/2006/relationships/hyperlink" Target="https://ir.miniso.com/image/MINISO+2026+Q2%26H1+ER_EN.pdf" TargetMode="External" Id="R6f0178088830439e" /><Relationship Type="http://schemas.openxmlformats.org/officeDocument/2006/relationships/hyperlink" Target="https://www.deloitte.com/content/dam/insights/articles/2025/us188488_cic-holiday-retail/pdf/DI_2025-Holiday-Survey.pdf" TargetMode="External" Id="R92a9e83b33e84878" /><Relationship Type="http://schemas.openxmlformats.org/officeDocument/2006/relationships/hyperlink" Target="https://www.miniso.com.mx/faq" TargetMode="External" Id="Ra4f599d6968646e1" /><Relationship Type="http://schemas.openxmlformats.org/officeDocument/2006/relationships/hyperlink" Target="https://www.popmart.com/us/products/675/the-monsters-exciting-macaron-vinyl-face-blind-box" TargetMode="External" Id="R5c5da80fca214059" /><Relationship Type="http://schemas.openxmlformats.org/officeDocument/2006/relationships/hyperlink" Target="https://www.miniso.com.mx/sanrio/cinnamoroll" TargetMode="External" Id="Rcd07f3ae24d34757" /><Relationship Type="http://schemas.openxmlformats.org/officeDocument/2006/relationships/notesSlide" Target="/ppt/notesSlides/notesSlide42.xml" Id="Rb21a7a160fbf4f4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ad49264c34c94" /><Relationship Type="http://schemas.openxmlformats.org/officeDocument/2006/relationships/hyperlink" Target="https://www.popmart.com/us/products/675/the-monsters-exciting-macaron-vinyl-face-blind-box" TargetMode="External" Id="R1babad43b1664936" /><Relationship Type="http://schemas.openxmlformats.org/officeDocument/2006/relationships/hyperlink" Target="https://www.miniso.com.mx/sanrio/cinnamoroll" TargetMode="External" Id="R65291dd7c7e54552" /><Relationship Type="http://schemas.openxmlformats.org/officeDocument/2006/relationships/notesSlide" Target="/ppt/notesSlides/notesSlide43.xml" Id="R5f38669752e34e4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71dafc71476b" /><Relationship Type="http://schemas.openxmlformats.org/officeDocument/2006/relationships/hyperlink" Target="https://www.circana.com/post/u-s-toy-industry-returns-to-growth-in-2025-circana-reports" TargetMode="External" Id="R9e8765980ab9415c" /><Relationship Type="http://schemas.openxmlformats.org/officeDocument/2006/relationships/hyperlink" Target="https://www.dollarama.com/en-CA/corp/wp-content/uploads/2026/04/Investor-Presentation-2026-03-24-FY26Q4-vF.pdf" TargetMode="External" Id="R2611cd86dc6944c2" /><Relationship Type="http://schemas.openxmlformats.org/officeDocument/2006/relationships/hyperlink" Target="https://daisous.com/blogs/daiso-updates/september-daiso-deals-halloween-sanrio-bt21-and-more" TargetMode="External" Id="R0753e3a54e8a4e37" /><Relationship Type="http://schemas.openxmlformats.org/officeDocument/2006/relationships/hyperlink" Target="https://www150.statcan.gc.ca/n1/daily-quotidien/260821/dq260821a-eng.htm" TargetMode="External" Id="R346d2a9109f8430e" /><Relationship Type="http://schemas.openxmlformats.org/officeDocument/2006/relationships/hyperlink" Target="https://www.fivebelow.com/categories/top-brands/hello-kitty" TargetMode="External" Id="R245a539844854c93" /><Relationship Type="http://schemas.openxmlformats.org/officeDocument/2006/relationships/notesSlide" Target="/ppt/notesSlides/notesSlide44.xml" Id="R6fcf7b5ed204417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49b6dfed947a2" /><Relationship Type="http://schemas.openxmlformats.org/officeDocument/2006/relationships/hyperlink" Target="https://www.deloitte.com/content/dam/insights/articles/2025/us188488_cic-holiday-retail/pdf/DI_2025-Holiday-Survey.pdf" TargetMode="External" Id="R0811917200ab4372" /><Relationship Type="http://schemas.openxmlformats.org/officeDocument/2006/relationships/hyperlink" Target="https://www.miniso.com.mx/faq" TargetMode="External" Id="R5176ae9a15f3491c" /><Relationship Type="http://schemas.openxmlformats.org/officeDocument/2006/relationships/hyperlink" Target="https://www.popmart.com/us/products/675/the-monsters-exciting-macaron-vinyl-face-blind-box" TargetMode="External" Id="R1bd54075180147e3" /><Relationship Type="http://schemas.openxmlformats.org/officeDocument/2006/relationships/hyperlink" Target="https://www.miniso.com.mx/sanrio/cinnamoroll" TargetMode="External" Id="R626ce71173844601" /><Relationship Type="http://schemas.openxmlformats.org/officeDocument/2006/relationships/hyperlink" Target="https://daisous.com/blogs/daiso-updates/september-daiso-deals-halloween-sanrio-bt21-and-more" TargetMode="External" Id="Rc11b2f350fea49fc" /><Relationship Type="http://schemas.openxmlformats.org/officeDocument/2006/relationships/notesSlide" Target="/ppt/notesSlides/notesSlide45.xml" Id="R12a2e057bacf477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6d9bb6060495c" /><Relationship Type="http://schemas.openxmlformats.org/officeDocument/2006/relationships/hyperlink" Target="https://www.circana.com/post/us-toy-industry-posts-strongest-first-half-in-six-years-circana-reports" TargetMode="External" Id="R8de837db251c4fde" /><Relationship Type="http://schemas.openxmlformats.org/officeDocument/2006/relationships/hyperlink" Target="https://www.deloitte.com/content/dam/insights/articles/2025/us188488_cic-holiday-retail/pdf/DI_2025-Holiday-Survey.pdf" TargetMode="External" Id="Rf1305a1434d54891" /><Relationship Type="http://schemas.openxmlformats.org/officeDocument/2006/relationships/hyperlink" Target="https://www.dollarama.com/en-CA/corp/wp-content/uploads/2026/04/Investor-Presentation-2026-03-24-FY26Q4-vF.pdf" TargetMode="External" Id="R9b29e5be17cf47b3" /><Relationship Type="http://schemas.openxmlformats.org/officeDocument/2006/relationships/hyperlink" Target="https://www.miniso.com.mx/faq" TargetMode="External" Id="Rd17dfa3990c94a2b" /><Relationship Type="http://schemas.openxmlformats.org/officeDocument/2006/relationships/hyperlink" Target="https://www.miniso.com.mx/sanrio/cinnamoroll" TargetMode="External" Id="R1722d301607a452a" /><Relationship Type="http://schemas.openxmlformats.org/officeDocument/2006/relationships/hyperlink" Target="https://daisous.com/blogs/daiso-updates/september-daiso-deals-halloween-sanrio-bt21-and-more" TargetMode="External" Id="Rc206e57de95140a4" /><Relationship Type="http://schemas.openxmlformats.org/officeDocument/2006/relationships/hyperlink" Target="https://www.fivebelow.com/categories/top-brands/hello-kitty" TargetMode="External" Id="R3b9d5e55742349b9" /><Relationship Type="http://schemas.openxmlformats.org/officeDocument/2006/relationships/notesSlide" Target="/ppt/notesSlides/notesSlide46.xml" Id="R5db32882d3e04bf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3086f1a2c4e9a" /><Relationship Type="http://schemas.openxmlformats.org/officeDocument/2006/relationships/hyperlink" Target="https://www.circana.com/post/u-s-toy-industry-returns-to-growth-in-2025-circana-reports" TargetMode="External" Id="R01e3ea5a3aba4918" /><Relationship Type="http://schemas.openxmlformats.org/officeDocument/2006/relationships/hyperlink" Target="https://www.deloitte.com/content/dam/insights/articles/2025/us188488_cic-holiday-retail/pdf/DI_2025-Holiday-Survey.pdf" TargetMode="External" Id="Rbdd6fdf1aa6b4894" /><Relationship Type="http://schemas.openxmlformats.org/officeDocument/2006/relationships/hyperlink" Target="https://www.miniso.com.mx/faq" TargetMode="External" Id="R79323143c6584d0b" /><Relationship Type="http://schemas.openxmlformats.org/officeDocument/2006/relationships/hyperlink" Target="https://www.miniso.com.mx/sanrio/cinnamoroll" TargetMode="External" Id="Re14be2e5b7c94f9d" /><Relationship Type="http://schemas.openxmlformats.org/officeDocument/2006/relationships/hyperlink" Target="https://www.fivebelow.com/categories/top-brands/hello-kitty" TargetMode="External" Id="R1588e3bbb53b419f" /><Relationship Type="http://schemas.openxmlformats.org/officeDocument/2006/relationships/notesSlide" Target="/ppt/notesSlides/notesSlide47.xml" Id="R9a49e1dbfff1471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4b3d7d884407f" /><Relationship Type="http://schemas.openxmlformats.org/officeDocument/2006/relationships/notesSlide" Target="/ppt/notesSlides/notesSlide48.xml" Id="Refc8280320374b6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87a60f82e4888" /><Relationship Type="http://schemas.openxmlformats.org/officeDocument/2006/relationships/hyperlink" Target="https://ir.miniso.com/image/MINISO+2026+Q2%26H1+ER_EN.pdf" TargetMode="External" Id="R1df6e80566eb41bd" /><Relationship Type="http://schemas.openxmlformats.org/officeDocument/2006/relationships/hyperlink" Target="https://investor.fivebelow.com/news/press-release-details/2026/Five-Below-Inc--Announces-Fourth-Quarter-and-Fiscal-2025-Financial-Results/default.aspx" TargetMode="External" Id="Rcdbea2fea6464622" /><Relationship Type="http://schemas.openxmlformats.org/officeDocument/2006/relationships/hyperlink" Target="https://www1.hkexnews.hk/listedco/listconews/sehk/2026/0325/2026032500285.pdf" TargetMode="External" Id="Rd62a8862100e4a0c" /><Relationship Type="http://schemas.openxmlformats.org/officeDocument/2006/relationships/hyperlink" Target="https://www.circana.com/post/u-s-toy-industry-returns-to-growth-in-2025-circana-reports" TargetMode="External" Id="R439323242a38436f" /><Relationship Type="http://schemas.openxmlformats.org/officeDocument/2006/relationships/hyperlink" Target="https://www.circana.com/post/us-toy-industry-posts-strongest-first-half-in-six-years-circana-reports" TargetMode="External" Id="R7a8abb77a7a3479d" /><Relationship Type="http://schemas.openxmlformats.org/officeDocument/2006/relationships/hyperlink" Target="https://www.deloitte.com/content/dam/insights/articles/2025/us188488_cic-holiday-retail/pdf/DI_2025-Holiday-Survey.pdf" TargetMode="External" Id="R41257cfc71564b70" /><Relationship Type="http://schemas.openxmlformats.org/officeDocument/2006/relationships/hyperlink" Target="https://www.dollarama.com/en-CA/corp/wp-content/uploads/2026/04/Investor-Presentation-2026-03-24-FY26Q4-vF.pdf" TargetMode="External" Id="R627fb55486a94ec1" /><Relationship Type="http://schemas.openxmlformats.org/officeDocument/2006/relationships/notesSlide" Target="/ppt/notesSlides/notesSlide49.xml" Id="R7878b032962f488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f7cb617f94869" /><Relationship Type="http://schemas.openxmlformats.org/officeDocument/2006/relationships/hyperlink" Target="https://miniso.ca" TargetMode="External" Id="R24c47615d1d1479f" /><Relationship Type="http://schemas.openxmlformats.org/officeDocument/2006/relationships/hyperlink" Target="https://daisous.com/pages/faq" TargetMode="External" Id="Rbde09d5ac5f14935" /><Relationship Type="http://schemas.openxmlformats.org/officeDocument/2006/relationships/hyperlink" Target="https://www.miniso.com.mx/faq" TargetMode="External" Id="Rb5997004ccb241ec" /><Relationship Type="http://schemas.openxmlformats.org/officeDocument/2006/relationships/hyperlink" Target="https://mumusomx.com/directorio-2" TargetMode="External" Id="Rd62128284c424dfe" /><Relationship Type="http://schemas.openxmlformats.org/officeDocument/2006/relationships/hyperlink" Target="https://www.popmart.com/us/products/675/the-monsters-exciting-macaron-vinyl-face-blind-box" TargetMode="External" Id="Rfe1b3646a58a40c4" /><Relationship Type="http://schemas.openxmlformats.org/officeDocument/2006/relationships/hyperlink" Target="https://us.jellycat.com/amuseables-moon" TargetMode="External" Id="R742e1ffaf41a492d" /><Relationship Type="http://schemas.openxmlformats.org/officeDocument/2006/relationships/hyperlink" Target="https://miniso-ca.com/pages/wholesale" TargetMode="External" Id="R878f6eaa649745e2" /><Relationship Type="http://schemas.openxmlformats.org/officeDocument/2006/relationships/notesSlide" Target="/ppt/notesSlides/notesSlide50.xml" Id="R9f81fdfb498f434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506ae5e414fb0" /><Relationship Type="http://schemas.openxmlformats.org/officeDocument/2006/relationships/hyperlink" Target="https://www.miniso.com.mx/sanrio/cinnamoroll" TargetMode="External" Id="R9d00e0c8ea244463" /><Relationship Type="http://schemas.openxmlformats.org/officeDocument/2006/relationships/hyperlink" Target="https://www.lego.com/en-us/aboutus/news/2026/august/strong-demand-and-brand-relevance-drive-lego-group-revenue-up-21-operating-profit-up-22-in-h1-2026" TargetMode="External" Id="Re985ae8aae144004" /><Relationship Type="http://schemas.openxmlformats.org/officeDocument/2006/relationships/hyperlink" Target="https://ir.buildabear.com/static-files/beef4f8f-4625-4c9c-8e9d-7bed6e3bb225" TargetMode="External" Id="R0093b6a42d884e23" /><Relationship Type="http://schemas.openxmlformats.org/officeDocument/2006/relationships/hyperlink" Target="https://www.circana.com/post/global-toy-industry-rebounds-in-2025-as-sales-rise-7-fueled-by-pop-culture-collectibles-and-kidu" TargetMode="External" Id="R6529430fdcf64c3d" /><Relationship Type="http://schemas.openxmlformats.org/officeDocument/2006/relationships/hyperlink" Target="https://daisous.com/blogs/daiso-updates/september-daiso-deals-halloween-sanrio-bt21-and-more" TargetMode="External" Id="R83677e5a1dad4941" /><Relationship Type="http://schemas.openxmlformats.org/officeDocument/2006/relationships/hyperlink" Target="https://www.boxlunch.com/customer-service/boxlunch-policies/company-info" TargetMode="External" Id="Rc7218a6178064e6e" /><Relationship Type="http://schemas.openxmlformats.org/officeDocument/2006/relationships/hyperlink" Target="https://www.miniso.com/brand" TargetMode="External" Id="R57929ac2f70b4888" /><Relationship Type="http://schemas.openxmlformats.org/officeDocument/2006/relationships/notesSlide" Target="/ppt/notesSlides/notesSlide51.xml" Id="R7acd78187dd2462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6c47d8bd44ada" /><Relationship Type="http://schemas.openxmlformats.org/officeDocument/2006/relationships/hyperlink" Target="https://amvo.org.mx/descarga-evo-2026" TargetMode="External" Id="Rc3862a016eb54a21" /><Relationship Type="http://schemas.openxmlformats.org/officeDocument/2006/relationships/hyperlink" Target="https://www150.statcan.gc.ca/n1/daily-quotidien/260220/dq260220a-eng.htm" TargetMode="External" Id="R5bb9633a0bf54aaa" /><Relationship Type="http://schemas.openxmlformats.org/officeDocument/2006/relationships/hyperlink" Target="https://www150.statcan.gc.ca/n1/daily-quotidien/260821/dq260821a-eng.htm" TargetMode="External" Id="Rc801bd6935ed4422" /><Relationship Type="http://schemas.openxmlformats.org/officeDocument/2006/relationships/hyperlink" Target="https://www.fivebelow.com/categories/top-brands/hello-kitty" TargetMode="External" Id="Ra218e9aeec0d4264" /><Relationship Type="http://schemas.openxmlformats.org/officeDocument/2006/relationships/notesSlide" Target="/ppt/notesSlides/notesSlide52.xml" Id="R9b60cd53d709409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2025全年</c:v>
                </c:pt>
                <c:pt idx="1">
                  <c:v>2026上半年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6</c:v>
                </c:pt>
                <c:pt idx="1">
                  <c:v>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Data'!$A$2:$A$4</c:f>
              <c:strCache>
                <c:ptCount val="3"/>
                <c:pt idx="0">
                  <c:v>游戏与拼图</c:v>
                </c:pt>
                <c:pt idx="1">
                  <c:v>积木</c:v>
                </c:pt>
                <c:pt idx="2">
                  <c:v>探索及其他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37</c:v>
                </c:pt>
                <c:pt idx="1">
                  <c:v>15</c:v>
                </c:pt>
                <c:pt idx="2">
                  <c:v>20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Data'!$A$2:$A$4</c:f>
              <c:strCache>
                <c:ptCount val="3"/>
                <c:pt idx="0">
                  <c:v>销售额</c:v>
                </c:pt>
                <c:pt idx="1">
                  <c:v>销量</c:v>
                </c:pt>
                <c:pt idx="2">
                  <c:v>平均售价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17</c:v>
                </c:pt>
                <c:pt idx="1">
                  <c:v>12</c:v>
                </c:pt>
                <c:pt idx="2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全部玩具</c:v>
                </c:pt>
                <c:pt idx="1">
                  <c:v>授权玩具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17</c:v>
                </c:pt>
                <c:pt idx="1">
                  <c:v>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12–17岁收礼对象</c:v>
                </c:pt>
                <c:pt idx="1">
                  <c:v>18岁以上收礼对象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33</c:v>
                </c:pt>
                <c:pt idx="1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2024计划</c:v>
                </c:pt>
                <c:pt idx="1">
                  <c:v>2025计划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1778</c:v>
                </c:pt>
                <c:pt idx="1">
                  <c:v>1595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Data'!$A$2:$A$4</c:f>
              <c:strCache>
                <c:ptCount val="3"/>
                <c:pt idx="0">
                  <c:v>2025年6月</c:v>
                </c:pt>
                <c:pt idx="1">
                  <c:v>2025年12月</c:v>
                </c:pt>
                <c:pt idx="2">
                  <c:v>2026年6月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394</c:v>
                </c:pt>
                <c:pt idx="1">
                  <c:v>461</c:v>
                </c:pt>
                <c:pt idx="2">
                  <c:v>536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FY2024</c:v>
                </c:pt>
                <c:pt idx="1">
                  <c:v>FY2025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38.76527</c:v>
                </c:pt>
                <c:pt idx="1">
                  <c:v>47.64147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Data'!$A$2:$A$4</c:f>
              <c:strCache>
                <c:ptCount val="3"/>
                <c:pt idx="0">
                  <c:v>线上</c:v>
                </c:pt>
                <c:pt idx="1">
                  <c:v>线下</c:v>
                </c:pt>
                <c:pt idx="2">
                  <c:v>其他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64</c:v>
                </c:pt>
                <c:pt idx="1">
                  <c:v>32.8</c:v>
                </c:pt>
                <c:pt idx="2">
                  <c:v>3.2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Data'!$A$2:$A$5</c:f>
              <c:strCache>
                <c:ptCount val="4"/>
                <c:pt idx="0">
                  <c:v>徽章盲盒</c:v>
                </c:pt>
                <c:pt idx="1">
                  <c:v>Have a Seat盲盒</c:v>
                </c:pt>
                <c:pt idx="2">
                  <c:v>Fall in Wild玩偶</c:v>
                </c:pt>
                <c:pt idx="3">
                  <c:v>I Found You玩偶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8.99</c:v>
                </c:pt>
                <c:pt idx="1">
                  <c:v>26.99</c:v>
                </c:pt>
                <c:pt idx="2">
                  <c:v>99.99</c:v>
                </c:pt>
                <c:pt idx="3">
                  <c:v>199.99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2025上半年</c:v>
                </c:pt>
                <c:pt idx="1">
                  <c:v>2026上半年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346</c:v>
                </c:pt>
                <c:pt idx="1">
                  <c:v>419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零售金额</c:v>
                </c:pt>
                <c:pt idx="1">
                  <c:v>零售销量口径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</c:v>
                </c:pt>
                <c:pt idx="1">
                  <c:v>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009DAC"/>
            </a:solidFill>
          </c:spPr>
          <c:cat>
            <c:strRef>
              <c:f>'Chart Data'!$A$2:$A$3</c:f>
              <c:strCache>
                <c:ptCount val="2"/>
                <c:pt idx="0">
                  <c:v>线上零售</c:v>
                </c:pt>
                <c:pt idx="1">
                  <c:v>其余零售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7.7</c:v>
                </c:pt>
                <c:pt idx="1">
                  <c:v>92.3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C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618F1-CFA0-49B4-8809-47E9E560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8CBD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78CBD2"/>
                </a:solidFill>
                <a:latin typeface="Hiragino Sans GB"/>
                <a:ea typeface="Hiragino Sans GB"/>
                <a:cs typeface="Hiragino Sans GB"/>
              </a:rPr>
              <a:t>MINISO NORTH AMERICA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E0BF5-E64F-47A2-B493-F1AE7BA8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平价生活方式与 IP 消费的北美机会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8DC30-4942-4F73-B2F6-02869BA0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美国、加拿大、墨西哥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C7196-8641-4004-AA33-A63F2C9D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案头研究报告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26056-415C-4864-A428-2DEA4213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公开资料截至 2026 年 9 月 10 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F30DF-2ED4-4646-871F-DF5C7171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FD5D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BFD5DD"/>
                </a:solidFill>
                <a:latin typeface="Hiragino Sans GB"/>
                <a:ea typeface="Hiragino Sans GB"/>
                <a:cs typeface="Hiragino Sans GB"/>
              </a:rPr>
              <a:t>独立研究案例；无品牌委托或机构背书</a:t>
            </a:r>
          </a:p>
        </p:txBody>
      </p:sp>
    </p:spTree>
    <p:extLst>
      <p:ext uri="{BB962C8B-B14F-4D97-AF65-F5344CB8AC3E}">
        <p14:creationId xmlns:p14="http://schemas.microsoft.com/office/powerpoint/2010/main" val="780310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3D48C-D32F-412D-BA07-2AF4B290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8166B9-A1FB-4FFA-95D4-708584FF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三个商业问题决定本报告的分析主线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研究主题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商业问题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分析任务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哪些消费增长与 MINISO 的商品和场景有关？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区分行业增长、收礼对象和购买任务，判断增长是否能迁移到具体选品。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竞争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消费者为何选择其他品牌，MINISO 可以借鉴什么？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按商品、价格、体验、渠道和复购机制比较，检验“平价＋IP”的差异性。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国家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美国经验如何在加拿大与墨西哥落地？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以当地商品、玩家和履约证据调整路径，给出有条件的机会优先顺序。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08FAC-528F-4B73-BEFC-C7221B5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研究覆盖消费与竞争方向；门店投资回报需要客户内部经营数据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EAD48-13A8-4D26-B1B4-CE51956E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独立分析；未主张品牌委托或机构背书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85ACF-B642-44F0-AC0E-709EE3EE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5271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1AE4E-D0E8-4E12-87AF-F0045E65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执行摘要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0D4FE-55D7-42C7-B4F9-8E4CD90D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机会集中在具体购买任务，竞争已进入商品组合与体验层面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商业问题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结论与依据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需求判断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美国玩具增长得到销量与授权产品共同支持，礼品消费同时重视收礼适配。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优先区分轻收藏、自用小礼与确定性送礼，避免把毛绒或 IP 整体视为必胜赛道。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竞争判断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Daiso、Five Below已将角色商品嵌入文具、家居与低价日常消费。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MINISO需要用角色系列完整度、跨品类搭配和购买便利形成具体选择理由。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国家判断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加拿大有密集平价参照，墨西哥已有角色跨品类目录和门店自取基础。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美国聚焦需求与选品，加拿大突出可解释价值，墨西哥衔接系列选购与本地履约。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E6391-2AA6-43ED-A581-B42D06C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近期研究优先项：角色跨品类搭配、送礼确定性，以及各国库存/支付/自取信息的一致性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BAFB-CE7C-4D2D-ABCA-8446FC0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c503d28ec82421b"/>
              </a:rPr>
              <a:t>D05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78d9201b1714df4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8ee6d06c1bf4cb6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9bbbe6968794f45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863674f8f934a9d"/>
              </a:rPr>
              <a:t>D25 Statistics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cbc01a9a9b84f7b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93FC5-7875-4BCE-AFB8-93CE825D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9429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83F0C-B28C-4737-AAD4-81BE104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90146-86B0-4225-81C1-D61C5210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MINISO 参与多种购买任务，同一消费者会跨渠道替代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日常好物与顺手购买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Daiso活动包括文具、零食、节庆摆件；Five Below角色商品覆盖日用。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价格参照来自邻近货架，功能和可爱外观共同决定是否加购。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角色收藏与随身展示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MART经营盲盒、挂件和大体量玩偶。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同一角色可覆盖入门、重复收藏和升级购买，价格结构不能只看一个爆款。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送礼与表达关系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Build-A-Bear提供参与制作；BoxLunch围绕粉丝礼品组织商品。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消费者也在比较礼物是否适合对方，以及选择和呈现是否省心。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跨品类角色生活方式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MINISO墨西哥Cinnamoroll系列延伸到家居、厨房和科技配件。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分析单元应包含“角色×任务×商品”，才能连接品类规划与消费者研究。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5EBD8-6534-4612-BA21-C3F3EC23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竞品集按争夺的购买任务划分；既比较同业杂货，也比较收藏和送礼渠道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DD76-2CB7-4F63-9E38-34633481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a6bf90e33314f7c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70e8abac7fa4067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912e3990f3144f5"/>
              </a:rPr>
              <a:t>D18 Build-A-Bear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c01877cac594fb1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e3c8937afd94a76"/>
              </a:rPr>
              <a:t>D21 BoxLunch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a5d584314d44c97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5ACB3-DBA7-42A1-BA3C-686D5753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35224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51822-5E13-4231-90FD-093A3E4D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7E1F0-D78C-42CD-8B3B-B31A28D9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交叉品类需要分别读增长，现有数据不足以合成一个总市场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美国玩具追踪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2025年销售额增长6%，包含游戏、积木、毛绒等不同类别。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可判断部分商品的行业势头，不能代表全部生活方式零售。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G12玩具追踪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2025年销售额增长7%，涵盖12个被追踪国家。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可作为跨市场方向背景，不拆成加拿大或墨西哥各自增速。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加拿大总零售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2025年8372亿加元，包含汽车等大类。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提供宏观消费背景，不能用于推算MINISO可服务市场。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墨西哥零售电商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AMVO摘要为9410亿比索，覆盖广泛零售类别。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说明渠道规模，但与实体零售及玩具数据存在范围交叉。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81810-22A7-4C17-AD1D-2760711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战略判断基于分项证据；本报告不把这些不同口径数字相加成为 TAM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D25EE-D263-473B-AC41-F4B67A3F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9fe9ce375b34f0e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f850e62d12d44e7"/>
              </a:rPr>
              <a:t>D19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87254d7cce7462b"/>
              </a:rPr>
              <a:t>D23 AMVO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b03165eba0744ed"/>
              </a:rPr>
              <a:t>D24 Statistics Canada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87D03-A745-4516-97A6-50A4794E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4657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88412-82DF-42B2-8CBA-26F3246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C8045-8FC8-4911-97AD-91B0895D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美国玩具销售在 2026 年上半年继续增长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B24CA-6D95-4F1A-A480-A844B9ED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销售额同比增长，%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5e0f8b444541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775D5-5758-49BB-8322-AD880627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市场信号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776C0-C10F-4C16-AE75-C48FDB07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2025年恢复增长，2026年上半年增速进一步提高。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F0E14-0F62-4FF8-9572-409BA452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可用解释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A1062-F766-4304-9838-9A3966E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需求仍有活跃度，为相关商品提供机会窗口。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2662B-7B1E-4905-ACDC-EBE0397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DD359-B089-4A73-89C2-6755BDBD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两个观察期季节结构不同，不能外推全年17%增长。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E2D84-8839-4415-A595-B6DAB89B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选品需要进入增长的具体子类，整体景气不能代替单个 IP 或毛绒系列验证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B4182-F78F-4FB8-BDBA-72B7212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95294a3343d4e5b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c533883544e46ea"/>
              </a:rPr>
              <a:t>D05 Circana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232FF-DB34-4537-AEA3-336E0498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77719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C16F0-8F5A-4CA5-8ABA-D722C07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BEFE4-3486-4807-A7CA-0E1DE3B2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2025 年玩具增量集中在游戏、积木及探索类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ED749-BC16-4799-BDC8-966436CB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美国2025年销售额同比，%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afc181644f447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51752-6F47-4FC8-B04F-1F64C69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增量集中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6C2FF-3CB3-4DC5-9125-101FBA0D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上述三类贡献行业92%的增量。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B368E-1135-45D7-8301-1A900A88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重要反例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196A8-E47A-4D4E-A811-C78FBAF3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毛绒、娃娃与户外运动玩具属于明显下滑类别。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D4438-DAFE-4865-9E33-F727B765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选品含义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E5C69-9AF4-4705-9172-B0B1393A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收藏和授权趋势不能直接等同于毛绒普涨。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BF687-52F7-4BC8-AC8B-5661AEC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优先评估角色积木、收藏玩法与配件组合；毛绒项目单独验证购买理由和替代品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C15B1E-9352-4904-BE20-EF83E140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21cb474e2e0407d"/>
              </a:rPr>
              <a:t>D04 Circana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C7FF3-8041-4FC9-9107-334337E2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65417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406EF-7F2B-4E7B-9A15-CE75BE62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AE017-5A73-449F-9A47-CA0DB01D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美国玩具增长同时包含销量扩张和平均售价提升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4ECAC-CBEC-4120-8EBF-949FB4A0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2026年上半年同比，%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5f5524474f4f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9CE3E-2903-48EF-AE24-83530FD1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销量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EBB0B-2786-48CE-AEF6-7418EC3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销量增长12%，表明增长不只是标价提高。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447A2-E598-4856-9480-E8DA604C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售价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53BCF-59C8-4282-8E65-0152CE2F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平均售价增长4%，还可能包含商品组合变化。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A9F4-7564-42C1-AE14-AABD0228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推理边界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FC28B-FD7E-4AD5-880C-F8FAA1A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不能把全部售价变化解释成同款提价或消费者愿付溢价。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3FB4FE-3C8D-4F08-AC49-331CB442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销售额约由销量×平均售价构成；披露值经四舍五入，12%与4%不应简单相加。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C2D67-5713-4B98-AA37-B97F64E8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MINISO应分别监测售出件数、同款价格和品类组合，区分客流机会与客单结构机会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DD31E-CA98-4628-AA38-8BCF951C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f976da25ab24fe6"/>
              </a:rPr>
              <a:t>D05 Circana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352C7-798F-4601-8A48-F825F5B8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98543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FAE04-40F4-497E-89BE-D444EC8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6BFC3-4B63-41D6-AE4E-0015C519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授权商品增速领先整体，价值仍需要具体角色与玩法承接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38503-5825-4CEE-82AF-80C835D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美国2026年上半年销售额同比，%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986c25509f47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256AD-20AF-47DC-ACFE-F03E75C3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需求线索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865FA-B660-4B60-83D6-B8D0B521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授权玩具占销售39%，其增速高于整体。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EE359-54C5-457E-9BBE-9551BAEA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业务解释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0736A-6B2C-4C6E-9E5F-8FEA88AB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熟悉角色有助于产品被识别，但授权本身尚不能解释转化。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162D5-6833-4899-B2EA-F5102F6F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CDEB7-F05C-4034-A4C5-3D17B76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多家渠道可经营相同授权，差异要落在商品与体验。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A03DC-7333-4E9A-A247-488425C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IP选择同时评估认知、商品适配和竞争供给，避免用角色知名度单独决定采购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7751D-817E-49D6-A47A-C8214F57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d173706ea5142e2"/>
              </a:rPr>
              <a:t>D05 Circana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E7A94-68DC-4009-8C90-AEEA0146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87439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AB7FFA-266C-45A6-A94D-55A6F696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08AA9-EFF0-4137-9DB4-1F0528A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青少年与成年收礼对象带来增长，画像需围绕使用情境展开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EB9CA-5F97-46EC-B8FA-C1984EC5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美国2026年上半年相关玩具销售同比，%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cf85f653f04fc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58929-FB05-4D3C-8F1A-9FA2119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已知行为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F8A0D-F7D5-461C-9D93-332FD5F4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青少年和成年收礼对象均有增长。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7ECA0-C7FB-447E-9CE7-AA1A1007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另一个口径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5F22C-17FC-4B5F-BBE9-9B2DD567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纯成人家庭贡献55%销售，不能当作成年购买者占比。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88D82-75A5-4F04-9A02-52E2F0DD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画像切入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CF800-A512-4824-8FFF-080F81DE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把购买者、最终使用者和礼物接受者分别识别。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67772-71D6-4E20-A610-185EE70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机会描述采用自用、收藏、送礼任务；本报告不虚构年龄、性别占比或市场分群规模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6C9DB-9EB9-489B-B870-9FF4C5C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335d9c97172425c"/>
              </a:rPr>
              <a:t>D05 Circana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AE97EB-B046-4CB6-B375-A480E18F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3004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C0E23-C94E-4C7F-9015-198F89A1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39E1A-A7B7-478C-AABE-2117138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假日预算趋紧，礼品需要让消费者确信钱花得合适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A608A-E015-4C9B-A577-0E3193B4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美国受访者假日季计划平均花费，美元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24c1f7d3e84c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8B85D6-C941-4458-A07C-DA6586E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支出背景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8DC4A-4C20-4E8D-8D93-04FB5FFD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2025年计划预算低于2024年，消费者会比较礼物价值。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85FC8-EA7D-4FF2-A218-EB3F7993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选择依据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AB8A0C-A468-48FE-BF49-5094C9DE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64%受访者喜欢收到愿望清单上的礼物。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78C41-CBC3-4378-A953-F564C2B6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D6384-7DE5-480E-AE4E-D699371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能识别收礼偏好、展示商品细节和减少选择风险具有价值。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FBDE3-3508-4D0C-91AF-537F9256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Deloitte在线调查n=4270，2025-08-27至09-05；计划而非实际花费，亦非2026预测。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05EE8-2D72-4F1B-B134-81F92E56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送礼陈列可按角色、对象与预算组织；盲选机制应与确定款选择并存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E2D74-CB70-42E7-A289-E9539FA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6eb289b509c4bdd"/>
              </a:rPr>
              <a:t>D06 Deloitte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067B5-E670-4228-B39D-4A9766DA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9645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835B6C-2484-40B4-8BD7-C11CE24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01 市场与需求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B124B-2226-4613-A39E-EF13B864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自用、收藏和送礼要求不同的商品与信息组合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自用小礼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Jellycat以人格化商品叙事赋予熟悉物体情感角色。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明确触感、尺寸和日常摆放/携带方式，让购买理由连接真实用途。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重复收藏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MART提供系列与整套规则，消费者可以围绕同一角色继续购买。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完整说明款式、重复和整套规则，降低期待与实际收到商品的落差。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确定性送礼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调查显示愿望清单偏好；Build-A-Bear强调个性化和场合。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商品选项、礼物包装、祝福信息和收礼者偏好可共同提高选择确定性。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8C9F5-7B80-4B28-8F6B-865BB486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同一 IP 可以服务多个任务，但需要不同的商品说明、陈列及后续沟通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CB9EF-BEC2-46FB-BB4F-D1D3160D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be2ad43f8914f05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95f5e85c9564441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4685e2c31ea41ed"/>
              </a:rPr>
              <a:t>D14 Jellycat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48691313d3640f9"/>
              </a:rPr>
              <a:t>D18 Build-A-Bear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0C092-F2EF-4ADD-AB4E-A9DAA8CE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5081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1EC2B-236F-431B-AAFB-410E9EA1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F44F4-FC39-4575-B5EE-C94D12A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Daiso 与 Five Below 已覆盖平价角色商品，MINISO 需要更具体的差异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官方活动页覆盖Sanrio零食、盲袋、文具和BT21系列。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既有低价日用品，也使用角色吸引购买；“有IP”并不构成排他优势。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Five Below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Hello Kitty目录横跨毛绒、服饰、学习用品与家居。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以跨品类角色货架竞争顺手购买和礼品预算。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墨西哥Cinnamoroll系列覆盖更多生活场景。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可比较系列完整度、跨品类搭配、商品更新和本地购买便利，而非宣称唯一占位。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BFED1-4BE3-4F13-A50D-1828E0CD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将“平价＋IP”作为竞争参与条件，进一步寻找客户能够持续执行的商品和服务差异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0E173-8191-4117-8DC2-71E9A15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63452fef7724f20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51a320d81ac437e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430a68684614d9c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3066E-6681-49E4-BE18-214BC445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00302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EE211-C7B7-4D53-9305-285DD8A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0B4D4-6641-47C4-A453-6BA9C778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重点玩家分别争夺价格便利、角色收藏与礼物体验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价格与便利参照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Dollarama：公开低价范围与密集加拿大门店；Daiso：日用、节庆和角色商品。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消费者的价格参照很具体，MINISO需要让商品差异在货架上可见。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跨品类角色零售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Five Below：角色扩展到日用；BoxLunch：粉丝商品覆盖穿搭、家居和礼品。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系列组合与使用情境是比较重点，SKU数量本身不能证明优势。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收藏升级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MART：同一角色覆盖徽章、盲盒、挂件和大体量玩偶。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入门到升级的价格与玩法可以分层，但需要匹配授权与库存条件。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情感与参与体验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Jellycat：商品人格化；Build-A-Bear：制作参与；LEGO：拼搭活动。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消费者也会为使用过程和意义付费，借鉴时应考虑门店面积与员工成本。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94FB2-63FC-4CD4-B5DC-79A9DDAA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下面用商品、渠道、复购机制和适配边界逐一展开，不将不同商业模式硬排优劣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2612-1655-4469-B599-0D1C19D2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970d67a2e584bc0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c16aab0a43045bb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c2155400a7440aa"/>
              </a:rPr>
              <a:t>D14 Jellycat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4b1247bbd214373"/>
              </a:rPr>
              <a:t>D17 LEGO Group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7da44cbec1c4712"/>
              </a:rPr>
              <a:t>D18 Build-A-Bear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86feadc12d54461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a66836552af4f65"/>
              </a:rPr>
              <a:t>D21 BoxLunch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1d1389d55f04f47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28CF3-7541-4463-B9A4-E0CE3773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62596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6E2E-33DF-42D3-A1DC-74B41A81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A779A-CC4C-471D-BC59-8AAED2AC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MINISO 北美门店网络扩张，为需求承接提供更多触点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28AD4-CE17-43A3-A5BC-3F27C7CB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公司披露北美区域门店数，家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23b1ee9095475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801D3-2A44-41D6-86E0-FCF3F04B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网络变化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A59C7-50A0-4ABA-AC15-68EB7AE0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北美门店一年净增142家。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C7838-159F-4AE7-B2FC-945C4F0E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A6AB1-8108-498C-9C97-80E7EDE9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同期披露北美上半年收入增长37%，同店GMV中个位数增长。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6D96F-9D9C-4A42-9D67-0CCEDE6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解释边界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C067E3-18F0-4BB4-AA9A-1E273BE0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门店扩张、开店时点和收入确认不同，不能直接作增长归因瀑布图。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8FF0E-935B-4246-9F2A-BF926E7E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扩大覆盖之后，还需验证新店与成熟店的商品组合、购买任务及复购差异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42F2A-0838-4C62-90C5-D52C712E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3a00cd35ca9403e"/>
              </a:rPr>
              <a:t>D01 MINISO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BE1F6-F9AD-46FF-A102-DBA690FE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88169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8D03A-BA51-4E64-829F-9EAC20C6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CA5DA-A285-4155-A41C-34E09A55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MINISO 会员已有销售联系，下一步研究应解释回访的具体理由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可见基础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公司称美国会员约580万、贡献当地销售60.1%；加拿大官网有奖励计划。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会员销售占比体现触达基础，不等于会员方案造成增量。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商品机制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角色系列可以跨毛绒、家居及配件，形成不同购买场景。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值得分开研究同IP复购、跨品类加购、促销驱动回访与纯积分领取。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门店与内容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Eaton Centre案例用IP集合店及系列首发强化商品事件。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上新触达需要与本地有货信息相连，否则内容兴趣难转成完成购买。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适配边界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公开披露没有按国家、门店成熟度和会员批次给出完整增量。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经营评价需结合会员入会前后行为与可比未入会群体，避免简单归因。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F3F42-BC50-4021-B80C-B1E42817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可先优化角色偏好与上新通知的连接，再用经营数据检验通知、入店和复购的关系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D9EAF-695F-4BEE-B530-5DD1D93B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a7982ab56f14f2b"/>
              </a:rPr>
              <a:t>D01 MINISO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084f29420f5462b"/>
              </a:rPr>
              <a:t>D08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c1a11b4c1774a6e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7f15c77095749ee"/>
              </a:rPr>
              <a:t>D22 MINISO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413F3-D342-497F-9D75-20A9C694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94864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698C7-27EE-4063-BB10-3A045619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BC84C-1544-4286-B8DD-3AD015FA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Five Below 以平价多品类参与角色消费，销售保持增长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658DF-64B1-48B3-966C-9717C02C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公司销售额，亿美元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f111a62b4413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11220-8D00-4FDC-997C-33CE2DCA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经营表现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5BB48-3EC9-4936-AD69-DC0980A5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FY2025收入增长22.9%。</a:t>
            </a:r>
          </a:p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可比店销售增长12.8%。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BBD5D-97A6-4CE4-B3EC-E59EFB1D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商品观察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FB767-0D9D-49B5-BD8E-5D740EC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凯蒂猫商品覆盖毛绒、服饰、文具和家居。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70204-A144-4242-BB69-34D2EB42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竞争含义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4477-C13A-45CB-BD83-B88C4380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既争夺角色预算，也争夺价格敏感消费者的顺手购买。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03CC5-9876-4241-B230-3BF4BD4E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FY2025截至2026-01-31；商品目录是2026-09-10快照，两者不构成因果证据。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6A68D-1E42-4C6C-91C4-50392C8B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对标应观察同任务购物篮、角色陈列和相关配件，不能只比较两家公司的收入增速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4FEDC-D7DB-4EF5-9688-FA316AA5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b3ee581876a4b41"/>
              </a:rPr>
              <a:t>D02 Five Below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11d73e2afe44326"/>
              </a:rPr>
              <a:t>D26 Five Below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3CD74-0FA6-4883-9E6B-42A1830A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369125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3535A-095D-408B-8674-20BEC4F7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F6AA3-2025-4A92-AB5B-9A67FECD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Five Below 的角色货架把粉丝兴趣连接到多种日常购买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服务任务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同一Hello Kitty入口呈现玩具、毛绒和生活用品。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角色成为浏览入口，消费者可按喜好跨品类选购。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商品与价格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本轮核实目录结构，未取得同款、同店、同日的完整价格样本。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可确认多品类竞争，暂不评价谁更便宜或哪个渠道毛利更高。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渠道机制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商品目录可把低频收藏与日常所需放在一个选择场景里。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对MINISO的可借鉴点是让角色系列覆盖多个使用任务。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公司可比店销售增长与整体增长均为正。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尚不能把增长归因于Sanrio或角色商品，需商品/门店数据验证贡献。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C6BE4-7E69-45F7-B101-5B850C7A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用角色购物篮比较竞争：主商品、配件、包装和可获得性一起看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92D17-C0F3-46A0-B8AD-581B97BD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185db7b13674e8e"/>
              </a:rPr>
              <a:t>D02 Five Below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dd63852e57e4e5b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F5A96-C0AF-4E8E-8257-DBAA8650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544591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93836-217B-45D1-B756-802E615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FF8BA-6B44-4490-93EA-6D79B2D5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POP MART 美洲收入以线上为主，门店数量无法解释全部增长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367E6-6914-48CB-BD69-B179FD6F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2025年美洲收入渠道占比，%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1948d35bdc4ed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4260A-8E24-4827-8F73-1BD47B94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渠道结构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1FC14-F20E-4BAC-AC93-4F14163D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线上占64.0%，线下32.8%，其他3.2%。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091F9E-6081-42E1-99CF-746B8331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扩张背景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BF64B-3DB7-439D-A051-069055D2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实体店由22家增至64家，网络扩张与数字渠道并行。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7B8B9-0051-448E-9D00-8CFC88C5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比较边界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99F6B-6B85-4435-AC5E-58611079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美洲不是美国或北美；收入单位与地域需独立保留。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C37FA-F6A8-4C5F-80ED-A435B0C5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收藏项目需要同时设计线上商品信息、发售规则与门店体验，不能只模仿开大店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2C3D7-F7D1-4294-BEA7-23C1A806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92bf46e9dd4483e"/>
              </a:rPr>
              <a:t>D03 POP MART / HKEX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40F8B-B075-46A2-AE0F-67E32D00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6699404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2E1BC-2764-454F-8D9F-7A3849B4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29DA5-C3FC-4434-988F-48FBBADD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POP MART 同一角色覆盖小件入口与高价升级商品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B7982-C018-4ECD-AA26-EEFA01F5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美国官网商品推荐区标价，美元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ffa6aa1eb74db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E8F11-12E2-46A9-9DBF-0E813931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价格结构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A4985-7218-4901-9513-86936E81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同一角色家族通过不同载体形成多个购买入口。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31D8C-B69D-4213-BF0C-3935F38B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收藏机制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54D10-D2B4-4679-AF51-7E0908DD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Macaron整套6个不重复盲盒，规则是商品价值的一部分。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B5626E-D7C6-4ADA-B9CF-4F185B3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适用边界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DD61A-B35C-4468-8CB3-9667013E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不同商品规格，仅说明可见台阶，不能估计销售分布或均价。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CF8CE-7752-43FC-BDDC-B604481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2026-09-10快照；税费、运费及库存未结算核验；Macaron规则不套用其他系列。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C4428-A571-424F-92C5-FED3C811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MINISO可评估同IP的小配件、主商品和礼盒层级；具体价格仍需成本与愿付验证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6A8E8-5B11-481B-9EEF-73B29AC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57c1b38a01c41ef"/>
              </a:rPr>
              <a:t>D13 POP MART US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690F0-AAB4-4395-B013-488BC91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451666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683CD-619A-4FE9-81EF-69B18E96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8863F-E811-4108-A686-16437746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Jellycat 用人格化叙事帮助消费者为日常物体找到情感意义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22ad0d6e04fe6"/>
          <a:stretch xmlns:a="http://schemas.openxmlformats.org/drawingml/2006/main"/>
        </p:blipFill>
        <p:spPr>
          <a:xfrm xmlns:a="http://schemas.openxmlformats.org/drawingml/2006/main">
            <a:off x="609600" y="1828800"/>
            <a:ext cx="3286125" cy="3286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C4743-C56C-4355-87F6-ABAF7DCE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Amuseables Moon</a:t>
            </a:r>
          </a:p>
          <a:p xmlns:a="http://schemas.openxmlformats.org/drawingml/2006/main">
            <a:pPr>
              <a:defRPr sz="1500" b="1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美国站起价 US$33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FD442-D5D3-4B92-84B0-9B8F2959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商品证据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D59CA-B46C-42E0-84BA-23E5D7C5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47875"/>
            <a:ext cx="7219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Amuseables Moon将月亮变成具有表情和性格的毛绒，官网起价33美元。</a:t>
            </a:r>
          </a:p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情感叙事与可见造型共同赋予产品识别度。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A9DDA-E944-4B98-9CA3-87C531DC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955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购买任务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3DDBB-A34D-473A-9217-03403476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7219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文案给商品写性格、习惯和情境，并提供礼物选择入口。</a:t>
            </a:r>
          </a:p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消费者可用商品表达关系或个人偏好，价值不必依赖已有影视角色。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ECDD4-A45B-4B84-9E7E-3F92B8FA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可借鉴机制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98528-015A-4A49-B8EC-7BB842B7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7219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把商品的形态、触感与日常使用场景连成具体故事。</a:t>
            </a:r>
          </a:p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适用于原创角色与非IP商品；需要产品本身支持叙事，不能只改文案。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37832-3AA0-4CAA-BE21-B62D954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577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适配边界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85F70-406A-4DD1-BC4B-D8146A3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91100"/>
            <a:ext cx="7219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本轮核实商品页面，未取得美国销售、受众占比或广告增量。</a:t>
            </a:r>
          </a:p>
          <a:p xmlns:a="http://schemas.openxmlformats.org/drawingml/2006/main">
            <a:pPr>
              <a:def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63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不能据此宣称某年龄性别主导，也不把起价当全系列价格。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4F467-DE55-4174-8DA3-DC4D4BA1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原创商品研究应同时评估“外观喜欢”与“为什么想带回家/送给谁”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70279B-716D-423B-8BF1-2E93A6B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0be44730c884345"/>
              </a:rPr>
              <a:t>D14 Jellycat US  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1A47E-84C7-4EEA-A999-1C44675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179842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0EC3F-5F84-483F-B8BB-65648D13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068D3-D0E4-4E23-96DF-68435F9E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LEGO 通过多主题产品与零售体验扩大需求覆盖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EA8925-AA57-4304-A6EC-F5431A2E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集团全球收入，亿丹麦克朗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7e5028247344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1A15A-7D53-491A-8CF3-B02CE067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增长结果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25EF3-0126-4BD9-B8E7-75CD4097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集团收入增长21%。</a:t>
            </a:r>
          </a:p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消费者销售增长22%。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50499-7D87-4777-85E9-81A1F76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商品供给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73190B-83C3-4900-AF82-07FEAA9C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推出330多个新品，畅销主题兼有自有与娱乐授权IP。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6452C-C412-4E9F-AA36-B8F1959A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渠道观察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96174-3DE2-4A23-8173-E1747E86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品牌门店1106家，同时与零售合作伙伴开展互动展示。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61920-7794-4C69-9CD9-9A8DB647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可借鉴跨兴趣产品架构与参与式展示；全球收入不用于估计美国市场份额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18413-01E8-4BAE-9D58-3B145C2B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4580943c1ec4afd"/>
              </a:rPr>
              <a:t>D17 LEGO Group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43194-D40D-4CDE-B722-7038F34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746369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2D0F3-CE8E-4E68-ADE7-FE6AD2C1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7BB1D-651B-4014-84BF-7FEA1B5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LEGO 的主题组合把角色热度与持续参与活动结合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产品主题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Botanicals、Icons、Technic、Speed Champions与Star Wars进入畅销主题。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兴趣入口包括植物、机械、车辆和娱乐角色，降低对单一IP的依赖。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产品活动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拼搭过程本身构成使用体验；公司继续推进门店互动展示。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体验可以发生在购买后，也可以在门店帮助理解商品。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MINISO适配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角色积木、桌面摆件或可组装礼物有相邻任务。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借鉴主题与活动组织，不能直接套用LEGO的技术、专利或高投入体系。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研究重点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公开主题清单没有提供每类在北美的消费结构。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下一步仅验证与自身商品相关的参与时长、难度和送礼适配。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CE6C2-B3F4-4CDF-BCD9-877311C9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产品创新应检验消费者愿不愿参与使用过程，而不只是测试包装是否吸睛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9D3C7-572F-4C69-A2BD-DF61F76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784e859c3ec49da"/>
              </a:rPr>
              <a:t>D17 LEGO Group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D429D-9D04-46EB-B4EF-A921FD68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736185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CCFB3-0379-4652-8728-FC70FD9C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C9CB5-D95A-41F8-ACF3-31E76F5C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Build-A-Bear 将顾客参与制作嵌入礼物意义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选择与制作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顾客参与毛绒填充、穿衣、配饰和命名。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商品选择转化为亲自完成的礼物或纪念过程。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送礼场景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公司以送礼、个性化和授权产品拓展年龄人群。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生日、纪念和关系表达可成为持续购买任务，不能只按儿童玩具理解。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数字与实体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电商关注收藏和送礼者，实体端保留互动过程。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不同触点承接不同任务，网站需帮助选择，门店提供参与体验。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完整制作流程需要人员和面积。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可先研究轻量包装、祝福卡或配件搭配，避免照搬高成本制作店。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AA789-B134-49E5-BF61-41427D7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借鉴“购买者参与”这一机制，具体服务形式须匹配门店人力和等候容忍度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79D83-8E37-4FAC-ACE7-5201070F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83fe8ff8bbd495f"/>
              </a:rPr>
              <a:t>D18 Build-A-Bear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6C339-C278-4B29-B1E6-0B5380E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513522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A8ACB-955B-4142-910A-8F62273C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24592-09F8-43F9-925D-B30B2899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Daiso 把角色商品、节庆和日用品放在同一低价选择环境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商品任务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活动页包含万圣节摆件、Sanrio零食/盲袋/文具和BT21文具系列。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角色消费与日用需求共存，形成多个入店与加购理由。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价格观察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页面列出2.25美元万圣节摆件。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可以识别低额购买入口，但页面未标年份，不当作当前同款门店报价。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渠道边界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美国FAQ对其线上业务设置配送范围。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官网与实体体验并不完全等同，研究时需核对渠道业务范围。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对MINISO含义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两者在部分角色与任务上有交集。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差异比较应深入商品设计、系列完整度、陈列和实际获得便利。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E7443-A4C4-430C-8DB9-F75BEF04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Daiso是“低价角色商品已存在”的反证，需要进入核心竞品清单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7AED4-E495-4AB3-978E-4BCF4D7C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a70de7bf1d848cd"/>
              </a:rPr>
              <a:t>D09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e55844acf804ddb"/>
              </a:rPr>
              <a:t>D20 Daiso USA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EACE9-7A24-44F1-A2FA-3CCAC16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993526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ED591-0633-42CF-96B9-180491AF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21039-330E-431B-800B-9857094E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Dollarama 在加拿大提供清晰而密集的低价参照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经营观察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截至2026-02-01，加拿大1691家店，公开价格范围C$0.25–C$5.00。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覆盖网络和价格表述使其成为日用与顺手购买的重要参照。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可比范围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商品结构与MINISO并非完全相同。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比较日用、文具或简单礼品时应按任务配对，IP精品不能直接与所有低价SKU相除。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地区变化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Dollarcity于2025年6月进入墨西哥，年底11家店。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墨西哥低价网络在增加，但其扩张速度和业务模式不能照搬加拿大。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消费者可能需要更明确的商品价值解释。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角色设计、功能组合和礼物完整性需要在货架上可见。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0EF5C-8224-4983-9DAF-8A509E00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加拿大定位应回答“比低价替代品多提供什么”，并用具体商品展示而非抽象品牌标签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7928D-11CB-49E4-A061-81B5E567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d53f4ccbf7e4f45"/>
              </a:rPr>
              <a:t>D07 Dollarama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C718C-AB19-45F6-90AF-D3AC6422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705501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23097-C5E4-4E16-9CA5-4C032765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CD8E-9D40-4339-A41C-A8388D61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BoxLunch 围绕粉丝生活方式组织跨品类礼品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机制与适配边界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购买入口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商品覆盖服饰、配饰、家居、礼品、收藏品，兼有授权和非授权。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角色兴趣可连接穿搭、家居表达和送礼，而非只集中在玩具。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渠道模式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品牌同时经营网站和实体门店。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购物任务可以在内容、浏览和实体体验之间衔接。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附加意义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品牌公布每消费10美元帮助提供一餐的公益承诺。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购买的意义可以超出商品功能，但不能据此推断公益提高转化。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跨品类角色系列与MINISO有较高任务相邻性。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可学习按粉丝生活场景组织商品，不能假定相同客户、价格或效果。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556FE-AFDC-4F30-894C-D7A28A98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重点借鉴角色系列如何成为生活方式组合，公益承诺的效果须另有证据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016B4-59B1-4E63-BD29-DFD0B5A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00d150e65e44d6a"/>
              </a:rPr>
              <a:t>D21 BoxLunch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3D8A0-6607-4177-A48E-94975A6E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818894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08D60-40EC-4F83-A0AD-9A92B98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05F5F-0876-4860-9F1C-C34F1E24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可迁移的是购买机制，实施方式要服从 MINISO 的经营条件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收藏层级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MART：同角色多载体、系列和整套规则。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可迁移：入口/主购/升级结构；限制：授权、库存和重复购买规则。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商品意义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Jellycat：人格化形态与叙事。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可迁移：原创商品情境；限制：需要设计和产品品质支撑。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参与体验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LEGO / Build-A-Bear：拼搭展示或顾客参与制作。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可迁移：轻量互动；限制：人力、面积和排队成本。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系列日常化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 / BoxLunch：角色跨文具、家居、穿搭及送礼任务。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可迁移：跨品类陈列；限制：商品匹配和系列供货完整度。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21320-746B-4830-B3D7-BCE36718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优先选择能用现有商品与门店能力承接的机制，再决定是否投入更重的体验改造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F70DF-2D9C-4DE5-BB19-2B16D7E3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031e7f319f24238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782314b7a9a4a2a"/>
              </a:rPr>
              <a:t>D14 Jellycat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39f3b449a6e4005"/>
              </a:rPr>
              <a:t>D17 LEGO Group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67eca19af8f422a"/>
              </a:rPr>
              <a:t>D18 Build-A-Bear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6e2e11c0a12406b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3323ea573fc492b"/>
              </a:rPr>
              <a:t>D21 BoxLunch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B1AA-A10B-4304-B898-D6A56921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786890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DA27E-2361-4422-B128-A03CBA96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02 竞争机制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C1D66-716A-47B6-B03E-4BE776AE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商品样本显示多种价格台阶，尚不足以证明 MINISO 价格优势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低额参照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Daiso活动摆件US$2.25；Dollarama公开C$0.25–5.00。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前者是特定活动，后者为加元范围，均不与其他币种直接排名。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收藏主购样本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 Have a Seat盲盒US$26.99；Jellycat Moon起价US$33。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用途、尺寸与销售机制不同，仅说明消费者面对不同选择门槛。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升级样本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POP MART相关玩偶：US$99.99与US$199.99。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证明同一角色存在升级商品，不能反推高价销售占比。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本项目定价任务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本轮未得到三国同款、同规格、同日成交价格。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保留价格相对位置未决，先明确商品层级，再做本币购物篮比较。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A9075-1210-4974-9344-ED42C9E3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机会是清楚组织价值层级；最终价格须结合本地成本、替代商品与愿付水平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D0188-9D0D-453B-876D-8008613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882192198894c76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0112dd28802481f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127d158ca3a430c"/>
              </a:rPr>
              <a:t>D14 Jellycat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691d5404df6459c"/>
              </a:rPr>
              <a:t>D20 Daiso USA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A41A-A795-4E7D-92B6-5B444FC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65780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B23D4-F4FF-4BB1-ABFA-D4AD57F0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00F4B-B167-411E-9C3F-A9C9734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 2025 年零售温和增长，数量增长低于金额增长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949BE-C31E-42D6-9385-21F688EB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2025全年同比，%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58fafcb6d9427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D8490-6AE4-473E-B51B-402BF8A9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总体环境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0FB8F-0689-4208-8E41-A4498505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全年零售额8372亿加元，同比增长4.0%。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E62E7-052A-460C-9865-23BD6750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数量背景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CCF32-B0A4-4275-8A22-AA411C83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销量口径同比增长2.3%，低于金额增速。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FD765-D56B-4502-89B7-935DF62E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适用范围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9C5EF-5F87-4EAC-AFE2-BF42447C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包含汽车等大类，用作环境背景，不代表IP礼品需求。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BDBB4-EE00-4DB9-8586-F78BC377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加拿大方案需要同时解释商品价值和具体购买任务，避免用总零售增长证明某个品类机会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ED511-EF13-4168-ABCC-01C0414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b31cffd8f0a4c18"/>
              </a:rPr>
              <a:t>D24 Statistics Canada  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8CF04-2561-478B-AFBA-FF7BF8C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333748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4FE43-2948-4591-8777-430A1749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53C0B-4D52-4EDC-ABA1-326B0015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加拿大线上零售已有规模，线下仍承担主要销售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57DE5-70BF-4FC4-AAEE-30BFC3C2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2026年6月加拿大零售渠道占比，%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19125" y="2038350"/>
          <a:ext xmlns:a="http://schemas.openxmlformats.org/drawingml/2006/main" cx="7191375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e1ee055c664a4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250EA-AF80-4FE2-83D2-CBAE67DB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478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月度观察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31C51-AAAD-4242-AE80-1D7FAD13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288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零售743亿加元，电商57亿加元，占比7.7%。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8368F-1C5A-46CB-8DC0-357A9071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实体背景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10CEF-25B1-4290-9D78-48BE2F9A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一般商品零售商环比增长2.7%。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DB447-AC7D-4CE2-84F6-8941843B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范围提醒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3C214-3CBC-47F9-A12B-5E057CD4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333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43849"/>
                </a:solidFill>
                <a:latin typeface="Hiragino Sans GB"/>
                <a:ea typeface="Hiragino Sans GB"/>
                <a:cs typeface="Hiragino Sans GB"/>
              </a:rPr>
              <a:t>本国零售统计并不等于加拿大消费者所有跨境网络购买。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3951B-9313-4F45-BE44-0E7E773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708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C727F"/>
                </a:solidFill>
                <a:latin typeface="Hiragino Sans GB"/>
                <a:ea typeface="Hiragino Sans GB"/>
                <a:cs typeface="Hiragino Sans GB"/>
              </a:rPr>
              <a:t>季调月度口径；其余零售=100%−电商占比，基于披露比例计算。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1E8FB-FB6F-4B4A-87AA-61A723DE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数字入口可以服务门店选择与购买准备，不能仅凭线上占比决定渠道预算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BAE829-803A-451D-B1B4-DA68F769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db7d58480b54b74"/>
              </a:rPr>
              <a:t>D25 Statistics Canada  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0B5E6-1FF6-4010-8AF3-95FE679B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61259707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33EF2-2F2B-4AC7-94F4-25588B2F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7941B-2A29-4757-AC51-31A83AF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加拿大既有 IP 集合店，也有非 IP 商品供给基础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零售案例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多伦多Eaton Centre IP Collection Store展示Sanrio并首发Harry Potter加拿大系列。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角色主题能够形成具体到门店的购物事件。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数字入口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加拿大官网有角色系列、奖励计划、DoorDash和门店查询。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商品兴趣、入会与购买入口已经可见，需要核实实际库存和服务覆盖。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供给侧观察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批发页称有1500多个非IP SKU、8类产品。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说明角色之外仍有品类供给，但批发目录不代表零售销售结构。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本地竞争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Dollarama形成清晰低价参照。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角色系列需要展示多出的设计、功能和礼物价值，非IP商品也需任务清晰。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E3A5C-8A43-4F68-9F59-528AFD9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加拿大优先研究“角色主商品＋有用配件”的组合价值，并分别评价零售与批发口径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FB1A2-B97D-4C89-96C6-E6ED76D1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4c8092a1ec74500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30bde6a3662447a"/>
              </a:rPr>
              <a:t>D08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91780c1ae03492e"/>
              </a:rPr>
              <a:t>D15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97320a5af8b47b8"/>
              </a:rPr>
              <a:t>D22 MINISO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5D260-3B6D-4956-8CFE-216A6684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95833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59F28-32C3-461D-A03E-0F0BE06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B5A6A-8619-4AB7-BCBF-A2CC829C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加拿大的差异化应落在可解释的价值和角色系列完整度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价格参照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Dollarama的低价范围和密集网络是当地事实。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MINISO对相邻日用商品应提供直观的设计/功能比较。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购物任务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IP集合店能围绕角色组织多种商品。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在送礼与粉丝任务中比较完整套系，而非只拼最低单价。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购买便利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官网包含配送与门店入口。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优先检查不同邮编的可达性、到店前库存信息与角色页面是否一致。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本地适配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全国网络、地区结构和语言体验存在不同需求。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具体测试按服务省份和门店商圈分层，公开资料不直接替代本地消费者证据。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D61F7-C5FF-4C03-B033-512B2DDE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加拿大可先验证“买得明白、搭配完整、拿得到”的零售表达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2BBBA-F983-4058-A77D-91C9FF69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30116dd625c4c68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2fc1935b3194bde"/>
              </a:rPr>
              <a:t>D08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511e3277fa24d7b"/>
              </a:rPr>
              <a:t>D22 MINISO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1AB43-B4F6-4812-99AA-79B83CE9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5171505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C7460-5DA9-4A23-A1EF-85A5B64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66E11-C31A-4C36-BBD5-5E8D1610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墨西哥的数字购买基础使商品信息与履约衔接成为研究重点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渠道背景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AMVO 2026研究摘要披露9410亿比索零售电商与7720万数字购买者。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数字渠道具备可观规模；这些数字不能缩成IP、玩具或MINISO市场。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本地能力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MINISO墨西哥FAQ列出宅配、自取和多种付款方式。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实际选择不仅取决于是否喜欢商品，也涉及能否使用合适付款与取货方式。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经营任务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角色内容、商品详情、支付和自取信息可在本地路径中连接。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有网站功能不证明转化有效，应按完成购买过程查找不一致。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AMVO与加拿大官方零售统计的范围、样本和时期不同。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本报告不对两国电商成熟度作直接数字排名。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BA247-DBFA-46DB-BDB5-9A74E241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墨西哥机会分析把角色选购与本地付款/自取一起看，避免只做品牌认知研究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1CFB2-9EF0-4DFF-AEF0-F408A0D2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f69580801854d62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617b3d8a81246d4"/>
              </a:rPr>
              <a:t>D23 AMVO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12A34-DDEE-4945-8283-AF431957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126376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CD04B-A25B-4CD2-A283-768F78B7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1C583-6893-4F8C-B65B-1FC040FC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 Cinnamoroll 系列已经把角色延伸到多个生活场景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毛绒与收藏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页面列有装饰毛绒及角色积木。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分别承接陪伴、摆放和参与组装的任务。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上学与日用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午餐包、收纳和厨房容器进入同一系列。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一个角色可成为日常物品的选择线索，提高跨品类研究的必要性。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个护与科技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角色进一步出现在美妆及科技配件。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需要确认形象延伸是否保持功能品质，而非假定贴角色就有效。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获取方式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系列网页称可宅配或200多家店自取。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可研究从系列兴趣到本地可得性的衔接；数量为网页自述，未实测。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681C9-0A54-4915-B883-5FBAE7D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优先测试同角色的跨任务搭配，区分真正加购与对原本日用品购买的替代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C6CD8-507F-4FE8-BF37-10CBC56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1c38dd2afb6493c"/>
              </a:rPr>
              <a:t>D16 MINISO México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20763-C9A3-47BB-9F14-ADAAAECB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62312435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F26EF-C8BB-47DE-BD82-FA7D379B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BD1E0-C46E-47B0-8E34-3E6DDB35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墨西哥购买路径需要把角色兴趣落实到付款和取货条件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看到商品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按角色进入系列，比较毛绒、家居与配件。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详情页应说明规格与用途，帮助消费者判断是否适合自己或收礼者。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决定购买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FAQ支持多种付款方式，含卡、现金网点和电子钱包。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不同方式可能影响完成时间与操作体验，不能只检验卡支付页面。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选择获得方式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宅配与门店自取并存。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价格、预计时效、具体门店库存需要在决策前清楚呈现。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兑现体验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公开页面说明的是功能，不是履约结果。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实际测试记录付款、取货信息和到手商品一致性，连接满意度与复购。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68178-50AC-4140-8914-786C3D19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本地转化研究应覆盖完整购买路径，并保留消费者未完成购买的具体原因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67879-0A47-45F7-AE00-028B7BC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23d04036e4642b0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00b1d40d4c942ae"/>
              </a:rPr>
              <a:t>D16 MINISO México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D35DC-4483-4AF5-9EB7-4EA3060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1049192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B62E3-00F3-4235-B2A1-E41F2612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83781-D117-4456-8F13-C3EFA5B8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墨西哥同时面对生活方式同业与新增低价网络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生活方式同业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MUMUSO官网列出本地门店目录。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足以进入门店与任务比较，尚不足以给出全国份额或价格排名。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新增低价供给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Dollarcity 2025年6月开首店，年底在墨西哥11家。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观察低价网络扩张对日用品任务的影响，不套用加拿大1691家规模。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MINISO现有能力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当地Cinnamoroll系列与自取服务已有公开呈现。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机会可从已有角色商品和履约基础出发，不需要先假设市场为空白。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比较单元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同商圈、同用途商品、可用付款和获得时间。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渠道差异要在同一购买任务下比较，才能解释消费者为什么换店。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5ABAF-C333-427B-BACA-0E03891A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墨西哥先做商圈任务比较与角色购物篮观察，再判断具体扩张或商品投入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E46D9-0FA0-4608-A9DE-E20D8D5E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d1bb49b2b614a6b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ac47c6997074aa9"/>
              </a:rPr>
              <a:t>D12 MUMUSO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65b93ee430840ac"/>
              </a:rPr>
              <a:t>D16 MINISO México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B9FA5-4DFC-4BD7-B03B-258F4C0A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86330140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72AA0-752B-492B-B2A0-2712129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03 国家差异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03A08-F4BA-4454-A9C2-3B1F8C65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三个市场需要不同的价值表达与购买路径重点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公开观察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玩具与授权需求活跃，Five Below/Daiso也经营角色生活用品。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强调商品组合、角色选择和送礼任务，比较实际替代品。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低价参照清晰，已有IP集合店和数字入口。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解释额外价值，检查本地可得性与系列完整度。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墨西哥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角色已跨品类，宅配、自取和多种付款共存。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把系列兴趣衔接到本地付款、门店库存与获得体验。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0F8B7-B469-4F69-8F53-93E2724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北美采用共同的角色与商品研究框架，各国保留不同竞争参照和渠道执行条件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AEBBF-CA4C-4B35-BCAA-773B75E8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3a3120ea7954691"/>
              </a:rPr>
              <a:t>D05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9a9bea711d24c93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3e53aab1757473a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22dd1ea421b4e65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816253bb9a54ead"/>
              </a:rPr>
              <a:t>D22 MINISO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1a50d5f27a34b36"/>
              </a:rPr>
              <a:t>D25 Statistics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c7cc4e302354fb6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2F7C1-1C32-4C76-BED2-EB4925A0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41144227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A537FC-DF07-4372-9350-F45B45F6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030BD-7A05-4E7F-BEAE-D4362201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美国可优先验证角色商品在自用、轻收藏与送礼之间的组合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机会依据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行业销量增长、授权表现积极，同时有明确低价角色竞争。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可研究任务组合带来的选择理由，避免单纯扩充IP数量。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商品方向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小配件、角色主商品、确定款礼物提供不同入口。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展示用途和组合关系，消费者可按自己或收礼者的喜好选择。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反向条件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2025年毛绒大类下滑；相同授权已被多个渠道经营。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若商品同质且功能/设计无差别，角色热度不足以支撑溢价。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行动含义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先比较同角色不同载体与主要替代商品。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以选择理由、跨品类加购和礼物适配评估组合，而非只看喜欢度。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B6706-D1DB-4156-9874-D928C17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美国研究优先级：任务适配与替代关系，随后再检验价格和商品组合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AD288-25C4-44C1-B7F8-A7D09AB8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8a77587eab44471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4db60e23dc3432b"/>
              </a:rPr>
              <a:t>D05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40f9db0896d4767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84fc302c6d04df5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f042c992b1f4606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755AE-BDB2-497A-A1B6-B310B0E7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808552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21FE3-6C77-46D1-BA2B-FFF050B2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A8EC5-DFDD-43DC-8D29-CE4996C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加拿大可围绕商品价值说明与系列完整度组织小范围试验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机会依据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IP集合店与数字入口已存在，低价网络同时提供强参照。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在已有门店与供货能力下，细化商品为什么值得选择。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可行方向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主商品搭配有用配件，展示用途、材质和礼物选择。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让价值具体到消费者能看到的差异，而非依赖品牌宣传。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实施条件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指定门店能稳定供应核心角色系列。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库存断层时先处理可得性，再评价陈列和沟通的效果。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评估重点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对照任务相近商品与低价替代品。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观察价值理解、购买选择和完成获取，价格判断全部保留加元。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A92DC-F725-435E-8291-88B0A0F8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加拿大先检验“额外价值说得清、核心商品拿得到”，再讨论扩大投入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752C3-B517-4DE1-B885-B20702F5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cc2f2faf3784fbb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c6baeded8c0430a"/>
              </a:rPr>
              <a:t>D08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b5ddd6540e041ac"/>
              </a:rPr>
              <a:t>D22 MINISO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984A04-5F83-45A8-8364-2103A33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884287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388E0-877E-4771-AEC7-2B37E2A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072A1-C66F-42E1-8613-AE6F318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墨西哥可用角色套系连接商品浏览与本地获得方式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机会依据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角色跨家居、收藏和配件，网站支持本地付款与自取。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用一个角色连接多个任务，减少消费者跨页面寻找商品的成本。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可行方向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按送礼、自用桌面或随身配件组织系列选择。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组合应说明具体用途、单件价格与能否在同一地点获得。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实施条件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网页与门店库存、支付说明及自取条件一致。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若组合商品不能一起取得，需解释配送和缺货选择，避免承诺失配。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评估重点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记录角色浏览后是否找到合适商品并完成获得。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区分无购买意愿、付款不便、缺货和获得时间不合适。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952B4-6B03-43FA-9F96-627D6BD4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墨西哥先把选择与获得的路径做完整，再判断系列组合能否带来增量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8FB7B-EFCA-4F55-A12C-7ABA7AB8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feb5b41ef474eb5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d8962f439b24d64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ce6aa404b0b4be9"/>
              </a:rPr>
              <a:t>D23 AMVO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172DB-585D-43E9-816C-8BEA84E6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7065010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5D686-0CC8-4E9E-B982-A4137B79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B5860-A656-4A13-88E8-AA6E500F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角色上新只有连接到选择、获得和使用，才形成完整体验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吸引兴趣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角色上新或会员通知引起关注。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信息需要指向具体商品与适用任务，避免仅推送IP名字。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帮助选择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明确尺寸、材质、款式和盲盒规则。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送礼者更需要确定性，收藏者更关心系列与重复风险。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完成获得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呈现价格、付款方式、库存和配送/自取条件。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不同国家与触点可提供不同路径，但承诺必须一致。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支持再购买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围绕使用感受和角色偏好解释下一次相关商品。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区分自然复购与促销影响，以批次数据验证会员联系的效果。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4CB1E-CE84-497F-A385-619F1657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体验优化应按消费者完成任务的过程组织，品牌、商品、渠道研究采用同一条路径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DC84E-77FA-4D97-86F5-9AFA09D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f0178088830439e"/>
              </a:rPr>
              <a:t>D01 MINISO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2a9e83b33e84878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4f599d6968646e1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c5da80fca214059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d07f3ae24d34757"/>
              </a:rPr>
              <a:t>D16 MINISO México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1B33F-5624-4BAA-8A82-4D0BE614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09547558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BF19-F447-4A2E-B597-C3FD6FE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87FCC-0290-4191-AAC5-C8955290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IP 商品规划需要分别定义入口、主购和升级任务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入口商品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徽章、文具或随身小配件的购买门槛较易解释。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承担尝试与日常使用，需提供清晰功能和价格。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主购商品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毛绒、角色积木或核心家居商品承接主要任务。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明确造型、品质和使用体验，不能只依赖同一图案。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升级选择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较大规格、更多参与体验或礼物组合。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价值差异需要真实内容支撑，不能仅提高价格或扩大包装。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规则匹配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盲盒、确定款和整套机制对应不同预期。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送礼与收藏可并存，但消费者应在购买前理解收到什么。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74933-CE39-475E-8005-DABD014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层级用于设计商品任务；本报告没有足够成本与愿付数据给出具体上市价格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B93E0-9D8C-43C8-8176-0559DC7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babad43b1664936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5291dd7c7e54552"/>
              </a:rPr>
              <a:t>D16 MINISO México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1D78F-E082-439F-B0DC-25510882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6246685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CD9A5-4F76-4193-9842-CE987848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C63F8-5EDE-4877-B472-1F40D70D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四类反证决定机会判断何时需要调整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观察维度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公开证据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研究判断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品类反证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毛绒大类曾下滑，行业授权增长未必惠及全部商品。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若具体系列购买动机弱，调整品类和任务，不能靠更多IP填补。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竞争反证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Daiso、Five Below已覆盖平价角色商品。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若消费者看不见差异，回到商品设计、功能和获得便利。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国家反证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加拿大低价参照与墨西哥付款/自取条件不同。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美国成功机制仅在本地条件成立时迁移，不套用同一价格或门店方案。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数据反证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现有企业收入与官网功能无法证明单项动作效果。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新增经营或消费者证据与判断冲突时，更新机会优先顺序。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C5762-F646-49BA-BFC8-5C1BC4C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对机会保持条件化判断，既保留支持证据，也保留会改变结论的观察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57DD6-5BF8-4994-9F0A-0FE6329F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e8765980ab9415c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611cd86dc6944c2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753e3a54e8a4e37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46d2a9109f8430e"/>
              </a:rPr>
              <a:t>D25 Statistics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45a539844854c93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0FCEA-E0A5-4C55-9D00-A8E9B8FD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21655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E8610-3853-491D-AD47-0A55326C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04 机会与行动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5BB6-6F7C-4789-9637-25FDFB73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近期优先项应利用已有能力，同时解决消费者的具体选择困难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方向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方案思路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适用条件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优先：商品与任务表达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已有角色目录可按自用、收藏和送礼组织。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先确认商品规格、用途、系列和规则是否让人理解；实施成本相对可控。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优先：选择与获得一致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本地支付、自取和门店信息已经有基础。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先核验核心商品能否在承诺渠道获得，解决阻断购买的问题。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随后：组合与轻体验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跨品类搭配、包装和简单参与环节。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在稳定供货与可用人力条件下比较增量，不预设提升幅度。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后续：重门店体验与扩张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大型主题空间或更重的体验服务。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需要客流、租金、人力、毛利和资本回报测算，公开研究不足以批准投资。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9E282-9B9D-4D7B-9FB5-809DA345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排序依据是现有能力与问题清晰度；不以虚构机会评分替代经营判断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E4520-A6A7-404D-A11A-86566CB0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811917200ab4372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176ae9a15f3491c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bd54075180147e3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26ce71173844601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11b2f350fea49fc"/>
              </a:rPr>
              <a:t>D20 Daiso USA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0B0A0-B73B-43D3-8DD6-BECAC39A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56976484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F0AE9-0262-43F9-96CD-2499F45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4F697-D1E9-4BB5-AD8E-867D7B56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三个商业问题的答案：机会存在，但要落到具体任务与本地条件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商业问题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结论与依据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业务含义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需求：部分支持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玩具销量和授权商品增长支持相关需求，礼品选择强调收礼适配。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优先自用小礼、轻收藏与确定性送礼；不声称所有毛绒或IP都会增长。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竞争：修正原假设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平价角色商品已有多家竞争供给。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差异应落在商品组合、原创表达、系列完整度与购买体验。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国家：有条件迁移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共同框架可复用，各国竞争参照与履约条件需要区别。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美国重任务与选品，加拿大重价值表达，墨西哥重系列选购与本地获得。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50091-D761-4576-A5D8-AFEF786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案头已形成方向判断；市场细分规模、价格弹性和投资回报仍需一手或经营数据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FBF40-D1F7-43D9-824B-9C10689C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de837db251c4fde"/>
              </a:rPr>
              <a:t>D05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1305a1434d54891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b29e5be17cf47b3"/>
              </a:rPr>
              <a:t>D07 Dollarama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17dfa3990c94a2b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722d301607a452a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206e57de95140a4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b9d5e55742349b9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0B243-5163-479C-AC4F-578FDC37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65051276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E1C85-91DE-40DD-89C7-4F19E08B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研究交接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4F75C-E55B-4D94-B284-3F148277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一手研究应验证会改变机会判断的少数关键假设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验证主题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定性/实测任务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定量/经营验证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任务与替代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访谈最近一次自用、收藏或送礼购买，展示实际替代商品。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定量区分购买者/收礼者，测量任务、跨品类选择和未购买原因。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价格与组合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在本地同规格购物篮基础上测试单件与组合。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保留本币、预算和功能差异，避免跨币种或异规格硬比较。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获得与复购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沿实际付款、门店自取及会员触达过程观察。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结合门店/会员批次数据，检验是否减少放弃或提高后续购买。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3644B-09D9-4E4F-96DD-A30F71F0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与已完成的问卷和整体方案衔接；不把上述验证结果写成已经发生的案头发现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2A7B4-9423-4103-9DA5-C2DFC4D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1e3ea5a3aba4918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dd6fdf1aa6b4894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9323143c6584d0b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14be2e5b7c94f9d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588e3bbb53b419f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1C838-9CB8-4D7A-BABE-320E4618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74306973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A0606-A13E-4A51-8CC6-1722879F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方法与口径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8B490-5EEA-488C-8B03-37B1A104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证据来自公开原始披露与官网观察，解释和建议由本研究提出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333875"/>
                <a:gridCol w="5000625"/>
              </a:tblGrid>
              <a:tr h="419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方法项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公开表现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公司财报/经营公告、Circana、Statistics Canada与AMVO公开摘要。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保留自然年/财年、美国/北美/美洲、金额/数量及统计覆盖差异。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商品与路径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官方商品页、品牌页、活动页和FAQ，访问时间2026-09-09至10。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页面可证明公开呈现；价格非成交，库存与服务未进行交易实测。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分析方法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按购买任务比较商品、价格、渠道、体验与复购机制，并主动核对反例。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初始“平价＋IP差异化”假设经竞品证据修正，不形成排他占位结论。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未决事项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细分市场规模、各国消费者画像、同款价格排名、单店与项目投资回报。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待取得一手或经营数据后更新，不用跨市场拼接或主观评分补齐。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8FC885-B0A8-467B-96D8-A1C3E756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公开案例采用独立视觉与原创分析；来源完整链接、口径和定位随报告提供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32E0D-6712-4EAA-810A-81E035D1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独立分析；未主张品牌委托或机构背书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87E0-1116-4135-ADC5-27CB1E7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56379165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919A5-67C9-4880-BF8C-CE19CF77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41458-2F9C-4772-B9FF-A125500C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来源与统计范围 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524375"/>
              </a:tblGrid>
              <a:tr h="41910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文件/网页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时间与范围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D01 MINISO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 June Quarter and Interim Results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2026-08-28；2026上半年；公司区域和集团口径；未经审计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D02 Five Below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Fourth Quarter and Fiscal 2025 Financial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2026-03-18；FY2025截至2026-01-31；美元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D03 POP MART / HKEX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Annual Results for the Year Ended 31 December 2025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2026-03-25；2025自然年；Americas，不等于美国或本项目三国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D04 Circana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U.S. Toy Industry Returns to Growth in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2026-02-03；美国玩具Retail Tracking Service；2025同比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D05 Circana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US Toy Industry Posts Strongest First Half in Six Years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2026-08-12；美国玩具2026年1–6月同比；页更新8月13日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D06 Deloitte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 Holiday Retail Survey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2025；美国在线调查n=4270，2025-08-27至09-05；计划花费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D07 Dollarama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Investor Presentation Q4-FY2026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2026-03-24；加拿大截至2026-02-01；Dollarcity截至2025-12-31；封面年份笔误与内文需区分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87E6F-C38D-4F0B-9DD3-3ED8C04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完整URL见本页备注及 sources.json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51A05-CF48-47BE-815F-310E668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df6e80566eb41bd"/>
              </a:rPr>
              <a:t>D01 MINISO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dbea2fea6464622"/>
              </a:rPr>
              <a:t>D02 Five Below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62a8862100e4a0c"/>
              </a:rPr>
              <a:t>D03 POP MART / HKEX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39323242a38436f"/>
              </a:rPr>
              <a:t>D04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a8abb77a7a3479d"/>
              </a:rPr>
              <a:t>D05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1257cfc71564b70"/>
              </a:rPr>
              <a:t>D06 Deloitte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27fb55486a94ec1"/>
              </a:rPr>
              <a:t>D07 Dollarama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7FA6F-1EAB-4806-9E0C-1572C190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9048520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4CFF9-C925-4E0B-9991-0F0FE06C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8F418-6CC7-4E1F-BD80-4A3A3194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来源与统计范围 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524375"/>
              </a:tblGrid>
              <a:tr h="41910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文件/网页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时间与范围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D08 MINISO Canada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Canada official homepage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网页无明确发布日期；官网功能和系列入口快照，非销售数据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D09 Daiso USA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FAQ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网页无明确发布日期；美国线上商店服务限制；页面包含批量线上业务语境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D11 MINISO México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Preguntas Frecuentes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网页无明确发布日期；官网购买、付款、配送和门店自取说明；非履约实测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D12 MUMUSO México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Directorio de Tiendas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网页无明确发布日期；墨西哥门店目录存在性，非市场规模或份额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D13 POP MART US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THE MONSTERS Exciting Macaron / related products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动态商品页；美国官网商品与推荐区原币标价快照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D14 Jellycat 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Amuseables Moon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动态商品页；美国站商品起价与说明，不代表全系列均价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D15 MINISO Canada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Wholesale catalogue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动态官网页；加拿大批发目录；非零售销售结构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6AE2C-506A-427A-86ED-C0BA63EE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完整URL见本页备注及 sources.json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C893-091C-4BDC-B533-C6739E1C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4c47615d1d1479f"/>
              </a:rPr>
              <a:t>D08 MINISO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de09d5ac5f14935"/>
              </a:rPr>
              <a:t>D09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5997004ccb241ec"/>
              </a:rPr>
              <a:t>D11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62128284c424dfe"/>
              </a:rPr>
              <a:t>D12 MUMUSO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e1b3646a58a40c4"/>
              </a:rPr>
              <a:t>D13 POP MART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42e1ffaf41a492d"/>
              </a:rPr>
              <a:t>D14 Jellycat US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78f6eaa649745e2"/>
              </a:rPr>
              <a:t>D15 MINISO Canada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27B87-7352-485D-B170-A583835C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28622696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7D258-C1A7-4C75-B1AD-3A956AC5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66926-0578-43E6-B0CD-9665AD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来源与统计范围 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524375"/>
              </a:tblGrid>
              <a:tr h="41910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文件/网页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时间与范围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D16 MINISO México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Cinnamoroll collection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动态商品页；墨西哥角色系列与网站自述的自取范围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D17 LEGO Group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H1 2026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2026-08-25；集团全球口径，不等于美国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D18 Build-A-Bear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Form 10-Q, quarter ended Nov 1, 2025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2025-12-11；公司经营模式与目标客群描述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D19 Circana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Global Toy Industry Rebounds in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2026-01-27；G12追踪市场合计，含美加墨，不提供各国细分值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D20 Daiso USA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September Daiso Deals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页面未标明年份；官方活动页存档，价格不是实时门店报价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D21 BoxLunch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Company Info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动态官网页；官方定位与品牌承诺，非效果测量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D22 MINISO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Brand Profile / brand timeline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动态官网页；企业自述历史门店案例，非当前全网表现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3E00D-E026-4012-99E2-14C4AF9F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完整URL见本页备注及 sources.json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D6C94-5067-4375-8494-E3AF86BB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d00e0c8ea244463"/>
              </a:rPr>
              <a:t>D16 MINISO México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985ae8aae144004"/>
              </a:rPr>
              <a:t>D17 LEGO Group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093b6a42d884e23"/>
              </a:rPr>
              <a:t>D18 Build-A-Bear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529430fdcf64c3d"/>
              </a:rPr>
              <a:t>D19 Circana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3677e5a1dad4941"/>
              </a:rPr>
              <a:t>D20 Daiso USA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7218a6178064e6e"/>
              </a:rPr>
              <a:t>D21 BoxLunch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7929ac2f70b4888"/>
              </a:rPr>
              <a:t>D22 MINISO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BFC9F-3A2B-43B3-BBEC-B79BC62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85638591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C2FC3-326D-410C-A0CB-8FB02FA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008D9B"/>
                </a:solidFill>
                <a:latin typeface="Hiragino Sans GB"/>
                <a:ea typeface="Hiragino Sans GB"/>
                <a:cs typeface="Hiragino Sans GB"/>
              </a:rPr>
              <a:t>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BB403-4BE9-43D6-BF12-4ECF1DC3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"/>
            <a:ext cx="1104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来源与统计范围 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724025"/>
          <a:ext xmlns:a="http://schemas.openxmlformats.org/drawingml/2006/main" cx="11049000" cy="3895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333875"/>
                <a:gridCol w="4524375"/>
              </a:tblGrid>
              <a:tr h="419100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来源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文件/网页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时间与范围</a:t>
                      </a:r>
                    </a:p>
                  </a:txBody>
                  <a:tcPr marL="91440" marR="91440" marT="45720" marB="45720">
                    <a:solidFill>
                      <a:srgbClr val="173C4C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D23 AMVO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Estudio de Venta Online 2026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2026；协会原始摘要；全零售电商范围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D24 Statistics Canada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Retail trade, December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2026-02-20；加拿大零售2025全年及12月口径；初始发布版本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D25 Statistics Canada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Retail trade, June 2026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2026-08-21；加拿大2026年6月，季调月度数据，可能修订</a:t>
                      </a:r>
                    </a:p>
                  </a:txBody>
                  <a:tcPr marL="91440" marR="91440" marT="45720" marB="45720">
                    <a:solidFill>
                      <a:srgbClr val="F2F7F8"/>
                    </a:solidFill>
                  </a:tcPr>
                </a:tc>
              </a:tr>
              <a:tr h="869156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D26 Five Below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Hello Kitty assortment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0">
                          <a:solidFill>
                            <a:srgbClr val="24384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动态商品页；美国官网系列目录，非销售或门店库存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791BD-863A-4311-A9D6-FB9DB9A5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7692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73C4C"/>
                </a:solidFill>
                <a:latin typeface="Hiragino Sans GB"/>
                <a:ea typeface="Hiragino Sans GB"/>
                <a:cs typeface="Hiragino Sans GB"/>
              </a:rPr>
              <a:t>完整URL见本页备注及 sources.json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BFCDA-0F35-43C4-97F3-D401B9BA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3862a016eb54a21"/>
              </a:rPr>
              <a:t>D23 AMVO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bb9633a0bf54aaa"/>
              </a:rPr>
              <a:t>D24 Statistics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801bd6935ed4422"/>
              </a:rPr>
              <a:t>D25 Statistics Canada  </a:t>
            </a:r>
            <a:r>
              <a:rPr sz="825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218e9aeec0d4264"/>
              </a:rPr>
              <a:t>D26 Five Below 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1CBD8-72BB-4D3E-AD18-D57DC9C5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607783"/>
                </a:solidFill>
                <a:latin typeface="Hiragino Sans GB"/>
                <a:ea typeface="Hiragino Sans GB"/>
                <a:cs typeface="Hiragino Sans GB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055061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2026-09-09T20:56:50.0090000Z</dcterms:created>
  <dcterms:modified xsi:type="dcterms:W3CDTF">2026-09-09T20:56:50.0090000Z</dcterms:modified>
</coreProperties>
</file>