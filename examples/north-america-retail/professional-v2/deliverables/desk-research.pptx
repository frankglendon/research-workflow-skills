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c059a3cd87415f" /><Relationship Type="http://schemas.openxmlformats.org/officeDocument/2006/relationships/extended-properties" Target="/docProps/app.xml" Id="R865a539a3d124cfc" /><Relationship Type="http://schemas.openxmlformats.org/officeDocument/2006/relationships/officeDocument" Target="/ppt/presentation.xml" Id="Rd84fb6a4860d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5bc31a2dbb4666"/>
  </p:sldMasterIdLst>
  <p:notesMasterIdLst>
    <p:notesMasterId xmlns:r="http://schemas.openxmlformats.org/officeDocument/2006/relationships" r:id="Rdc0e65772cb44ae9"/>
  </p:notesMasterIdLst>
  <p:sldIdLst>
    <p:sldId xmlns:r="http://schemas.openxmlformats.org/officeDocument/2006/relationships" id="256" r:id="Re07c8f1678594d67"/>
    <p:sldId xmlns:r="http://schemas.openxmlformats.org/officeDocument/2006/relationships" id="257" r:id="R4bd0a23b23ab4b30"/>
    <p:sldId xmlns:r="http://schemas.openxmlformats.org/officeDocument/2006/relationships" id="258" r:id="Re89ef1d2a8de4d6d"/>
    <p:sldId xmlns:r="http://schemas.openxmlformats.org/officeDocument/2006/relationships" id="259" r:id="R074fc4c263c64461"/>
    <p:sldId xmlns:r="http://schemas.openxmlformats.org/officeDocument/2006/relationships" id="260" r:id="Rc503b32d24414ee9"/>
    <p:sldId xmlns:r="http://schemas.openxmlformats.org/officeDocument/2006/relationships" id="261" r:id="R3ff957f6c1f143ee"/>
    <p:sldId xmlns:r="http://schemas.openxmlformats.org/officeDocument/2006/relationships" id="262" r:id="Rfff7e1aa3d1a4011"/>
    <p:sldId xmlns:r="http://schemas.openxmlformats.org/officeDocument/2006/relationships" id="263" r:id="Rab11ad0612e642a2"/>
    <p:sldId xmlns:r="http://schemas.openxmlformats.org/officeDocument/2006/relationships" id="264" r:id="Rc05c8fdbbde5470e"/>
    <p:sldId xmlns:r="http://schemas.openxmlformats.org/officeDocument/2006/relationships" id="265" r:id="R7a92c0a1a8114cd5"/>
    <p:sldId xmlns:r="http://schemas.openxmlformats.org/officeDocument/2006/relationships" id="266" r:id="R9c723a3bd9ca4e03"/>
    <p:sldId xmlns:r="http://schemas.openxmlformats.org/officeDocument/2006/relationships" id="267" r:id="Re19891c6f88047d4"/>
    <p:sldId xmlns:r="http://schemas.openxmlformats.org/officeDocument/2006/relationships" id="268" r:id="R9bef3486bb9d4de1"/>
    <p:sldId xmlns:r="http://schemas.openxmlformats.org/officeDocument/2006/relationships" id="269" r:id="R657df2700f9e4741"/>
    <p:sldId xmlns:r="http://schemas.openxmlformats.org/officeDocument/2006/relationships" id="270" r:id="Rd0e04199f64c4833"/>
    <p:sldId xmlns:r="http://schemas.openxmlformats.org/officeDocument/2006/relationships" id="271" r:id="R30e17592b6de4dde"/>
    <p:sldId xmlns:r="http://schemas.openxmlformats.org/officeDocument/2006/relationships" id="272" r:id="R5fe1f0c267ac480d"/>
    <p:sldId xmlns:r="http://schemas.openxmlformats.org/officeDocument/2006/relationships" id="273" r:id="R7418a43c3d1d414f"/>
    <p:sldId xmlns:r="http://schemas.openxmlformats.org/officeDocument/2006/relationships" id="274" r:id="R0b7b4dce13824722"/>
    <p:sldId xmlns:r="http://schemas.openxmlformats.org/officeDocument/2006/relationships" id="275" r:id="Ra955664336754d3d"/>
    <p:sldId xmlns:r="http://schemas.openxmlformats.org/officeDocument/2006/relationships" id="276" r:id="Rd0205aa4461e4e15"/>
    <p:sldId xmlns:r="http://schemas.openxmlformats.org/officeDocument/2006/relationships" id="277" r:id="R4e4ac901b7af4a4e"/>
    <p:sldId xmlns:r="http://schemas.openxmlformats.org/officeDocument/2006/relationships" id="278" r:id="Rc3dc11c13dd94b91"/>
    <p:sldId xmlns:r="http://schemas.openxmlformats.org/officeDocument/2006/relationships" id="279" r:id="R1081c6a9b7c644e3"/>
    <p:sldId xmlns:r="http://schemas.openxmlformats.org/officeDocument/2006/relationships" id="280" r:id="R3a971b2e973b4120"/>
    <p:sldId xmlns:r="http://schemas.openxmlformats.org/officeDocument/2006/relationships" id="281" r:id="R92ba0398937c4d77"/>
    <p:sldId xmlns:r="http://schemas.openxmlformats.org/officeDocument/2006/relationships" id="282" r:id="R8cf32f781f0f44b3"/>
    <p:sldId xmlns:r="http://schemas.openxmlformats.org/officeDocument/2006/relationships" id="283" r:id="R5e3751aae36448f0"/>
    <p:sldId xmlns:r="http://schemas.openxmlformats.org/officeDocument/2006/relationships" id="284" r:id="R234cbd623c414d76"/>
    <p:sldId xmlns:r="http://schemas.openxmlformats.org/officeDocument/2006/relationships" id="285" r:id="R78d86b4162354f81"/>
    <p:sldId xmlns:r="http://schemas.openxmlformats.org/officeDocument/2006/relationships" id="286" r:id="R14bbac93d9c24e98"/>
    <p:sldId xmlns:r="http://schemas.openxmlformats.org/officeDocument/2006/relationships" id="287" r:id="R4a479d61576f4cf9"/>
    <p:sldId xmlns:r="http://schemas.openxmlformats.org/officeDocument/2006/relationships" id="288" r:id="R76e8df75e5a848a0"/>
    <p:sldId xmlns:r="http://schemas.openxmlformats.org/officeDocument/2006/relationships" id="289" r:id="R334ec61642e5438a"/>
    <p:sldId xmlns:r="http://schemas.openxmlformats.org/officeDocument/2006/relationships" id="290" r:id="R7b6cd1da8e5c45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1dbed72ad040a4" /><Relationship Type="http://schemas.openxmlformats.org/officeDocument/2006/relationships/slideMaster" Target="/ppt/slideMasters/slideMaster1.xml" Id="R635bc31a2dbb4666" /><Relationship Type="http://schemas.openxmlformats.org/officeDocument/2006/relationships/notesMaster" Target="/ppt/notesMasters/notesMaster1.xml" Id="Rdc0e65772cb44ae9" /><Relationship Type="http://schemas.openxmlformats.org/officeDocument/2006/relationships/presProps" Target="/ppt/presProps.xml" Id="R92af9b0248f548a7" /><Relationship Type="http://schemas.openxmlformats.org/officeDocument/2006/relationships/tableStyles" Target="/ppt/tableStyles.xml" Id="R6f3d0f6e66794296" /><Relationship Type="http://schemas.openxmlformats.org/officeDocument/2006/relationships/slide" Target="/ppt/slides/slide1.xml" Id="Re07c8f1678594d67" /><Relationship Type="http://schemas.openxmlformats.org/officeDocument/2006/relationships/slide" Target="/ppt/slides/slide2.xml" Id="R4bd0a23b23ab4b30" /><Relationship Type="http://schemas.openxmlformats.org/officeDocument/2006/relationships/slide" Target="/ppt/slides/slide3.xml" Id="Re89ef1d2a8de4d6d" /><Relationship Type="http://schemas.openxmlformats.org/officeDocument/2006/relationships/slide" Target="/ppt/slides/slide4.xml" Id="R074fc4c263c64461" /><Relationship Type="http://schemas.openxmlformats.org/officeDocument/2006/relationships/slide" Target="/ppt/slides/slide5.xml" Id="Rc503b32d24414ee9" /><Relationship Type="http://schemas.openxmlformats.org/officeDocument/2006/relationships/slide" Target="/ppt/slides/slide6.xml" Id="R3ff957f6c1f143ee" /><Relationship Type="http://schemas.openxmlformats.org/officeDocument/2006/relationships/slide" Target="/ppt/slides/slide7.xml" Id="Rfff7e1aa3d1a4011" /><Relationship Type="http://schemas.openxmlformats.org/officeDocument/2006/relationships/slide" Target="/ppt/slides/slide8.xml" Id="Rab11ad0612e642a2" /><Relationship Type="http://schemas.openxmlformats.org/officeDocument/2006/relationships/slide" Target="/ppt/slides/slide9.xml" Id="Rc05c8fdbbde5470e" /><Relationship Type="http://schemas.openxmlformats.org/officeDocument/2006/relationships/slide" Target="/ppt/slides/slide10.xml" Id="R7a92c0a1a8114cd5" /><Relationship Type="http://schemas.openxmlformats.org/officeDocument/2006/relationships/slide" Target="/ppt/slides/slide11.xml" Id="R9c723a3bd9ca4e03" /><Relationship Type="http://schemas.openxmlformats.org/officeDocument/2006/relationships/slide" Target="/ppt/slides/slide12.xml" Id="Re19891c6f88047d4" /><Relationship Type="http://schemas.openxmlformats.org/officeDocument/2006/relationships/slide" Target="/ppt/slides/slide13.xml" Id="R9bef3486bb9d4de1" /><Relationship Type="http://schemas.openxmlformats.org/officeDocument/2006/relationships/slide" Target="/ppt/slides/slide14.xml" Id="R657df2700f9e4741" /><Relationship Type="http://schemas.openxmlformats.org/officeDocument/2006/relationships/slide" Target="/ppt/slides/slide15.xml" Id="Rd0e04199f64c4833" /><Relationship Type="http://schemas.openxmlformats.org/officeDocument/2006/relationships/slide" Target="/ppt/slides/slide16.xml" Id="R30e17592b6de4dde" /><Relationship Type="http://schemas.openxmlformats.org/officeDocument/2006/relationships/slide" Target="/ppt/slides/slide17.xml" Id="R5fe1f0c267ac480d" /><Relationship Type="http://schemas.openxmlformats.org/officeDocument/2006/relationships/slide" Target="/ppt/slides/slide18.xml" Id="R7418a43c3d1d414f" /><Relationship Type="http://schemas.openxmlformats.org/officeDocument/2006/relationships/slide" Target="/ppt/slides/slide19.xml" Id="R0b7b4dce13824722" /><Relationship Type="http://schemas.openxmlformats.org/officeDocument/2006/relationships/slide" Target="/ppt/slides/slide20.xml" Id="Ra955664336754d3d" /><Relationship Type="http://schemas.openxmlformats.org/officeDocument/2006/relationships/slide" Target="/ppt/slides/slide21.xml" Id="Rd0205aa4461e4e15" /><Relationship Type="http://schemas.openxmlformats.org/officeDocument/2006/relationships/slide" Target="/ppt/slides/slide22.xml" Id="R4e4ac901b7af4a4e" /><Relationship Type="http://schemas.openxmlformats.org/officeDocument/2006/relationships/slide" Target="/ppt/slides/slide23.xml" Id="Rc3dc11c13dd94b91" /><Relationship Type="http://schemas.openxmlformats.org/officeDocument/2006/relationships/slide" Target="/ppt/slides/slide24.xml" Id="R1081c6a9b7c644e3" /><Relationship Type="http://schemas.openxmlformats.org/officeDocument/2006/relationships/slide" Target="/ppt/slides/slide25.xml" Id="R3a971b2e973b4120" /><Relationship Type="http://schemas.openxmlformats.org/officeDocument/2006/relationships/slide" Target="/ppt/slides/slide26.xml" Id="R92ba0398937c4d77" /><Relationship Type="http://schemas.openxmlformats.org/officeDocument/2006/relationships/slide" Target="/ppt/slides/slide27.xml" Id="R8cf32f781f0f44b3" /><Relationship Type="http://schemas.openxmlformats.org/officeDocument/2006/relationships/slide" Target="/ppt/slides/slide28.xml" Id="R5e3751aae36448f0" /><Relationship Type="http://schemas.openxmlformats.org/officeDocument/2006/relationships/slide" Target="/ppt/slides/slide29.xml" Id="R234cbd623c414d76" /><Relationship Type="http://schemas.openxmlformats.org/officeDocument/2006/relationships/slide" Target="/ppt/slides/slide30.xml" Id="R78d86b4162354f81" /><Relationship Type="http://schemas.openxmlformats.org/officeDocument/2006/relationships/slide" Target="/ppt/slides/slide31.xml" Id="R14bbac93d9c24e98" /><Relationship Type="http://schemas.openxmlformats.org/officeDocument/2006/relationships/slide" Target="/ppt/slides/slide32.xml" Id="R4a479d61576f4cf9" /><Relationship Type="http://schemas.openxmlformats.org/officeDocument/2006/relationships/slide" Target="/ppt/slides/slide33.xml" Id="R76e8df75e5a848a0" /><Relationship Type="http://schemas.openxmlformats.org/officeDocument/2006/relationships/slide" Target="/ppt/slides/slide34.xml" Id="R334ec61642e5438a" /><Relationship Type="http://schemas.openxmlformats.org/officeDocument/2006/relationships/slide" Target="/ppt/slides/slide35.xml" Id="R7b6cd1da8e5c45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4e17ccf42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5073fcaefa48ae" /><Relationship Type="http://schemas.openxmlformats.org/officeDocument/2006/relationships/notesMaster" Target="/ppt/notesMasters/notesMaster1.xml" Id="Rd654451f7acc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890ed7dbf4be9" /><Relationship Type="http://schemas.openxmlformats.org/officeDocument/2006/relationships/notesMaster" Target="/ppt/notesMasters/notesMaster1.xml" Id="R945af8cba9f8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f9ee1456914faf" /><Relationship Type="http://schemas.openxmlformats.org/officeDocument/2006/relationships/notesMaster" Target="/ppt/notesMasters/notesMaster1.xml" Id="Rd502c7a2bee048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0e23620e27418b" /><Relationship Type="http://schemas.openxmlformats.org/officeDocument/2006/relationships/notesMaster" Target="/ppt/notesMasters/notesMaster1.xml" Id="Rfde4d8ce130a40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c78fd7cfe34a2e" /><Relationship Type="http://schemas.openxmlformats.org/officeDocument/2006/relationships/notesMaster" Target="/ppt/notesMasters/notesMaster1.xml" Id="R2d1a5881b327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e8fcb2e1304fd0" /><Relationship Type="http://schemas.openxmlformats.org/officeDocument/2006/relationships/notesMaster" Target="/ppt/notesMasters/notesMaster1.xml" Id="Rf3e888b71f594c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6a0c9bb0994a2c" /><Relationship Type="http://schemas.openxmlformats.org/officeDocument/2006/relationships/notesMaster" Target="/ppt/notesMasters/notesMaster1.xml" Id="R763c10d5ba0540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0d3d860ed74e7d" /><Relationship Type="http://schemas.openxmlformats.org/officeDocument/2006/relationships/notesMaster" Target="/ppt/notesMasters/notesMaster1.xml" Id="R113749a45039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e6ed7313f145f0" /><Relationship Type="http://schemas.openxmlformats.org/officeDocument/2006/relationships/notesMaster" Target="/ppt/notesMasters/notesMaster1.xml" Id="Rb1c68897968146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d770d8182c4183" /><Relationship Type="http://schemas.openxmlformats.org/officeDocument/2006/relationships/notesMaster" Target="/ppt/notesMasters/notesMaster1.xml" Id="R1c3aebae182b4e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c7a5115a6e4db3" /><Relationship Type="http://schemas.openxmlformats.org/officeDocument/2006/relationships/notesMaster" Target="/ppt/notesMasters/notesMaster1.xml" Id="R514f113daa1340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dcaf9330004423" /><Relationship Type="http://schemas.openxmlformats.org/officeDocument/2006/relationships/notesMaster" Target="/ppt/notesMasters/notesMaster1.xml" Id="R810eb8b0116b45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d2c98439ca4f1a" /><Relationship Type="http://schemas.openxmlformats.org/officeDocument/2006/relationships/notesMaster" Target="/ppt/notesMasters/notesMaster1.xml" Id="R662de1fb43f746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a5f455622a4a32" /><Relationship Type="http://schemas.openxmlformats.org/officeDocument/2006/relationships/notesMaster" Target="/ppt/notesMasters/notesMaster1.xml" Id="R5406cd382ff447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303f39700e4f6c" /><Relationship Type="http://schemas.openxmlformats.org/officeDocument/2006/relationships/notesMaster" Target="/ppt/notesMasters/notesMaster1.xml" Id="Rb23dfc7a51b041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32a51b17194b73" /><Relationship Type="http://schemas.openxmlformats.org/officeDocument/2006/relationships/notesMaster" Target="/ppt/notesMasters/notesMaster1.xml" Id="Radfe6f5b896649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4765bdaeb54a35" /><Relationship Type="http://schemas.openxmlformats.org/officeDocument/2006/relationships/notesMaster" Target="/ppt/notesMasters/notesMaster1.xml" Id="Rad2e32e0a99e40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ffe41f47d344f8" /><Relationship Type="http://schemas.openxmlformats.org/officeDocument/2006/relationships/notesMaster" Target="/ppt/notesMasters/notesMaster1.xml" Id="R7e8cf45d3f4749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dbc931b5ffb407a" /><Relationship Type="http://schemas.openxmlformats.org/officeDocument/2006/relationships/notesMaster" Target="/ppt/notesMasters/notesMaster1.xml" Id="R3566f64de00b48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925a41ad824416" /><Relationship Type="http://schemas.openxmlformats.org/officeDocument/2006/relationships/notesMaster" Target="/ppt/notesMasters/notesMaster1.xml" Id="Rc3cc74d64d7740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427603acde400e" /><Relationship Type="http://schemas.openxmlformats.org/officeDocument/2006/relationships/notesMaster" Target="/ppt/notesMasters/notesMaster1.xml" Id="Rfd81050d2c5d44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f6561c21e8d4c61" /><Relationship Type="http://schemas.openxmlformats.org/officeDocument/2006/relationships/notesMaster" Target="/ppt/notesMasters/notesMaster1.xml" Id="Rf7c566bbb1624c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ef2e11408f14710" /><Relationship Type="http://schemas.openxmlformats.org/officeDocument/2006/relationships/notesMaster" Target="/ppt/notesMasters/notesMaster1.xml" Id="R2be90f554b654f6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3e4230e81834d9c" /><Relationship Type="http://schemas.openxmlformats.org/officeDocument/2006/relationships/notesMaster" Target="/ppt/notesMasters/notesMaster1.xml" Id="Re376c9f00285411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e2065ebe564d4a" /><Relationship Type="http://schemas.openxmlformats.org/officeDocument/2006/relationships/notesMaster" Target="/ppt/notesMasters/notesMaster1.xml" Id="Rcabf787956f34d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49a47abbca431f" /><Relationship Type="http://schemas.openxmlformats.org/officeDocument/2006/relationships/notesMaster" Target="/ppt/notesMasters/notesMaster1.xml" Id="R59db682065db49b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a1fadb456884cfc" /><Relationship Type="http://schemas.openxmlformats.org/officeDocument/2006/relationships/notesMaster" Target="/ppt/notesMasters/notesMaster1.xml" Id="R21b2cca683b74d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5b7a387a9e3431e" /><Relationship Type="http://schemas.openxmlformats.org/officeDocument/2006/relationships/notesMaster" Target="/ppt/notesMasters/notesMaster1.xml" Id="R0e7d8cd3c2a04f6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857104ebc0b43dd" /><Relationship Type="http://schemas.openxmlformats.org/officeDocument/2006/relationships/notesMaster" Target="/ppt/notesMasters/notesMaster1.xml" Id="R920ff3b6dd4c40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1eae87060d4c35" /><Relationship Type="http://schemas.openxmlformats.org/officeDocument/2006/relationships/notesMaster" Target="/ppt/notesMasters/notesMaster1.xml" Id="Rd99b0d9d67b447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9df386d23084012" /><Relationship Type="http://schemas.openxmlformats.org/officeDocument/2006/relationships/notesMaster" Target="/ppt/notesMasters/notesMaster1.xml" Id="R88b1803b5dc8417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fb25984e2c4424" /><Relationship Type="http://schemas.openxmlformats.org/officeDocument/2006/relationships/notesMaster" Target="/ppt/notesMasters/notesMaster1.xml" Id="R54365a35210543a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23c39775aca4a17" /><Relationship Type="http://schemas.openxmlformats.org/officeDocument/2006/relationships/notesMaster" Target="/ppt/notesMasters/notesMaster1.xml" Id="Ra9dc6e6cec4a499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73ec4437aa4bec" /><Relationship Type="http://schemas.openxmlformats.org/officeDocument/2006/relationships/notesMaster" Target="/ppt/notesMasters/notesMaster1.xml" Id="Rf8b7cafda99747b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f4f34283bc047d4" /><Relationship Type="http://schemas.openxmlformats.org/officeDocument/2006/relationships/notesMaster" Target="/ppt/notesMasters/notesMaster1.xml" Id="R2c651cfa90fb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研究判断：独立作品展示；企业事实来自公开资料，配套虚构问卷用于展示研究设计，无实访数据。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断言编号：F01, F08, F09, F19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研究判断：优先验证需求与可达性，暂不依据公开增速直接给出开店回报预测。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发布：2025；访问：2026-09-09</a:t>
            </a:r>
          </a:p>
          <a:p xmlns:a="http://schemas.openxmlformats.org/drawingml/2006/main">
            <a:r>
              <a:t>口径：美国在线调查n=4270，2025-08-27至09-05；计划花费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断言编号：F01, F08, F12, F19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研究判断：推断和设计建议在页面标注；原始网页快照仅本地保存，来源链接及定位随报告交付。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发布：2026-03-25；访问：2026-09-09</a:t>
            </a:r>
          </a:p>
          <a:p xmlns:a="http://schemas.openxmlformats.org/drawingml/2006/main">
            <a:r>
              <a:t>口径：2025自然年；Americas，不等于美国或本项目三国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断言编号：F02, F06, F15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研究判断：所有国家选择先按本地可达性、消费者场景和竞争替代评估。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发布：2025；访问：2026-09-09</a:t>
            </a:r>
          </a:p>
          <a:p xmlns:a="http://schemas.openxmlformats.org/drawingml/2006/main">
            <a:r>
              <a:t>口径：美国在线调查n=4270，2025-08-27至09-05；计划花费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断言编号：F08, F13, F16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研究判断：同一件商品可跨越多个任务；定量用最近一笔交易和主用途归类，避免把玩具、杂货和赠礼规模相加。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断言编号：F01, F02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研究判断：门店覆盖与消费者到店便利性应联合分析；不把扩店数直接解释成品牌偏好提高。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断言编号：F03, F04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研究判断：问卷以E12–E14补充频次和会员状态；用同国家、同活跃程度的分层比较，避免把相关关系写成因果。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发布：2026-08-12；访问：2026-09-09</a:t>
            </a:r>
          </a:p>
          <a:p xmlns:a="http://schemas.openxmlformats.org/drawingml/2006/main">
            <a:r>
              <a:t>口径：美国玩具2026年1–6月同比；页更新8月13日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断言编号：F08, F10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研究判断：将IP相关玩具作为值得验证的需求方向，同时保留实用商品与赠礼的对照。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断言编号：F08, F09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研究判断：I01–I10先测真实行为再问动机；不能先定义“IP爱好者”后只询问支持该假设的题。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发布：2026-08-12；访问：2026-09-09</a:t>
            </a:r>
          </a:p>
          <a:p xmlns:a="http://schemas.openxmlformats.org/drawingml/2006/main">
            <a:r>
              <a:t>口径：美国玩具2026年1–6月同比；页更新8月13日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研究判断：A03、G02、D05拆开“谁买、给谁、家里有没有孩子”，不借别家的顾客画像替代MINISO用户研究。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发布：2025；访问：2026-09-09</a:t>
            </a:r>
          </a:p>
          <a:p xmlns:a="http://schemas.openxmlformats.org/drawingml/2006/main">
            <a:r>
              <a:t>口径：美国在线调查n=4270，2025-08-27至09-05；计划花费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断言编号：F12, F13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研究判断：A10–A14测实际付价；G04–G06测赠礼选择与顾虑。历史美国假日意向不直接作为本项目市场预测。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发布：2026-03-18；访问：2026-09-09</a:t>
            </a:r>
          </a:p>
          <a:p xmlns:a="http://schemas.openxmlformats.org/drawingml/2006/main">
            <a:r>
              <a:t>口径：FY2025截至2026-01-31；美元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发布：2026-03-25；访问：2026-09-09</a:t>
            </a:r>
          </a:p>
          <a:p xmlns:a="http://schemas.openxmlformats.org/drawingml/2006/main">
            <a:r>
              <a:t>口径：2025自然年；Americas，不等于美国或本项目三国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D12 Directorio de Tiendas</a:t>
            </a:r>
          </a:p>
          <a:p xmlns:a="http://schemas.openxmlformats.org/drawingml/2006/main">
            <a:r>
              <a:t>https://mumusomx.com/directorio-2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口径：墨西哥门店目录存在性，非市场规模或份额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断言编号：F05, F06, F14, F15, F20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研究判断：这是基于经营类型的研究分组，不是经过消费者测量的定位图；品牌关系由B模块验证。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发布：2026-03-18；访问：2026-09-09</a:t>
            </a:r>
          </a:p>
          <a:p xmlns:a="http://schemas.openxmlformats.org/drawingml/2006/main">
            <a:r>
              <a:t>口径：FY2025截至2026-01-31；美元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研究判断：B01–B07检验是否进入同一考虑集合；A09、B08/B09识别MINISO的转化障碍。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发布：2026-03-25；访问：2026-09-09</a:t>
            </a:r>
          </a:p>
          <a:p xmlns:a="http://schemas.openxmlformats.org/drawingml/2006/main">
            <a:r>
              <a:t>口径：2025自然年；Americas，不等于美国或本项目三国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断言编号：F06, F07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研究判断：E03–E09区分线上与线下体验；A08记录信息路径，避免把“看过社交内容”直接算成销售归因。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D09 FAQ</a:t>
            </a:r>
          </a:p>
          <a:p xmlns:a="http://schemas.openxmlformats.org/drawingml/2006/main">
            <a:r>
              <a:t>https://daisous.com/pages/faq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口径：美国线上商店服务限制；页面包含批量线上业务语境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断言编号：F14, F17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研究判断：本轮不制造跨币种价格指数；先用A10–A14建立交易口径，再补充匹配SKU价格审计。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D10 Find a Store</a:t>
            </a:r>
          </a:p>
          <a:p xmlns:a="http://schemas.openxmlformats.org/drawingml/2006/main">
            <a:r>
              <a:t>https://www.miniso-us.com/store-locator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口径：门店查找入口，动态门店列表未完整读出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断言编号：F03, F18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研究判断：若主要流失来自可达性，优先渠道覆盖；若来自商品或结账，优先店内改进。两条路径需要不同证据。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断言编号：F14, F16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研究判断：不能因有配送入口就假定全国覆盖；优先检查所在地库存、费用与到手体验。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D12 Directorio de Tiendas</a:t>
            </a:r>
          </a:p>
          <a:p xmlns:a="http://schemas.openxmlformats.org/drawingml/2006/main">
            <a:r>
              <a:t>https://mumusomx.com/directorio-2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口径：墨西哥门店目录存在性，非市场规模或份额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断言编号：F15, F19, F20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研究判断：先定位“知道商品但未完成交易”发生在哪一步，不能直接把它解释为品牌吸引力不足。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研究判断：各环节的分母独立：经历过才评价；没有经历不填中性或最低分。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研究判断：目前没有充分的同SKU、同税费、同渠道样本；本报告不输出伪精确最优价格或TAM。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发布：2026-08-12；访问：2026-09-09</a:t>
            </a:r>
          </a:p>
          <a:p xmlns:a="http://schemas.openxmlformats.org/drawingml/2006/main">
            <a:r>
              <a:t>口径：美国玩具2026年1–6月同比；页更新8月13日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断言编号：F09, F11, F16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研究判断：定性先理解角色与商品的关系；定量再比较不同购买状态，不以热门单一IP代替整体判断。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发布：2025；访问：2026-09-09</a:t>
            </a:r>
          </a:p>
          <a:p xmlns:a="http://schemas.openxmlformats.org/drawingml/2006/main">
            <a:r>
              <a:t>口径：美国在线调查n=4270，2025-08-27至09-05；计划花费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研究判断：这是待验证的机会判断：先比较痛点，再设计按预算/兴趣推荐、礼盒或退换支持试点。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有来源事实及研究推断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断言编号：F03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研究判断：E00–E16形成体验基线；要判断会员活动的因果效果，另做随机或可比对照的运营试点。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研究判断：N01/N02与实际行为联合分群；保留重叠与跨场景切换，不提前给“悦己族”“收藏党”贴定论标签。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研究判断：排序为本项目研究建议，依据决策影响与当前证据缺口；不是测量得到的机会分数。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研究判断：访谈主动追问失败经历和替代选择；报告保留与主假设相反的结果。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研究判断：为设计数量，尚未实访。样本按信息覆盖选择，不把定性样本数写成定量代表性。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研究判断：追问具体行为和例子，不先告诉对方“情绪消费是趋势”；访谈中新增选项经版本复核进入量化。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研究判断：全部为拟议非概率在线样本；主张比较受随机分组支持，目标总体推断仍受招募覆盖限制。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研究判断：主稿、520个回答变量及9个开放编码框架同版本交付；规则通过不代表已完成实访。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研究判断：C03为主要意向指标；n400/组与n200/组仅能识别约10/14个百分点量级差异（设计近似、未校正多重比较）。结果不能直接换算销量。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研究判断：如果主稿负担过重，按设计重分深诊模块与样本；同步重算分析基数，不只删题以满足一个时长。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研究设计与执行建议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研究判断：这些缺口随交付明确记录；没有用推测值补成完整图表。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发布：2026-08-28；访问：2026-09-09</a:t>
            </a:r>
          </a:p>
          <a:p xmlns:a="http://schemas.openxmlformats.org/drawingml/2006/main">
            <a:r>
              <a:t>口径：2026上半年；公司区域和集团口径；未经审计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发布：2026-03-18；访问：2026-09-09</a:t>
            </a:r>
          </a:p>
          <a:p xmlns:a="http://schemas.openxmlformats.org/drawingml/2006/main">
            <a:r>
              <a:t>口径：FY2025截至2026-01-31；美元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发布：2026-03-25；访问：2026-09-09</a:t>
            </a:r>
          </a:p>
          <a:p xmlns:a="http://schemas.openxmlformats.org/drawingml/2006/main">
            <a:r>
              <a:t>口径：2025自然年；Americas，不等于美国或本项目三国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发布：2026-02-03；访问：2026-09-09</a:t>
            </a:r>
          </a:p>
          <a:p xmlns:a="http://schemas.openxmlformats.org/drawingml/2006/main">
            <a:r>
              <a:t>口径：美国玩具Retail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发布：2026-08-12；访问：2026-09-09</a:t>
            </a:r>
          </a:p>
          <a:p xmlns:a="http://schemas.openxmlformats.org/drawingml/2006/main">
            <a:r>
              <a:t>口径：美国玩具2026年1–6月同比；页更新8月13日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发布：2025；访问：2026-09-09</a:t>
            </a:r>
          </a:p>
          <a:p xmlns:a="http://schemas.openxmlformats.org/drawingml/2006/main">
            <a:r>
              <a:t>口径：美国在线调查n=4270，2025-08-27至09-05；计划花费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研究判断：点击幻灯片备注中的原始链接；完整URL、正文哈希与断言定位见随附sources.json及claims.json。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发布：2026-03-24；访问：2026-09-09</a:t>
            </a:r>
          </a:p>
          <a:p xmlns:a="http://schemas.openxmlformats.org/drawingml/2006/main">
            <a:r>
              <a:t>口径：加拿大截至2026-02-01；Dollarcity截至2025-12-31；封面年份笔误与内文需区分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D09 FAQ</a:t>
            </a:r>
          </a:p>
          <a:p xmlns:a="http://schemas.openxmlformats.org/drawingml/2006/main">
            <a:r>
              <a:t>https://daisous.com/pages/faq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口径：美国线上商店服务限制；页面包含批量线上业务语境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D10 Find a Store</a:t>
            </a:r>
          </a:p>
          <a:p xmlns:a="http://schemas.openxmlformats.org/drawingml/2006/main">
            <a:r>
              <a:t>https://www.miniso-us.com/store-locator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口径：门店查找入口，动态门店列表未完整读出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D12 Directorio de Tiendas</a:t>
            </a:r>
          </a:p>
          <a:p xmlns:a="http://schemas.openxmlformats.org/drawingml/2006/main">
            <a:r>
              <a:t>https://mumusomx.com/directorio-2</a:t>
            </a:r>
          </a:p>
          <a:p xmlns:a="http://schemas.openxmlformats.org/drawingml/2006/main">
            <a:r>
              <a:t>发布：网页无明确发布日期；访问：2026-09-09</a:t>
            </a:r>
          </a:p>
          <a:p xmlns:a="http://schemas.openxmlformats.org/drawingml/2006/main">
            <a:r>
              <a:t>口径：墨西哥门店目录存在性，非市场规模或份额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断言编号：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研究判断：点击幻灯片备注中的原始链接；完整URL、正文哈希与断言定位见随附sources.json及claims.json。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8f319f12446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162ff58774bad" /><Relationship Type="http://schemas.openxmlformats.org/officeDocument/2006/relationships/slideLayout" Target="/ppt/slideLayouts/slideLayout1.xml" Id="R2b9066e45734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066e45734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fbac82e4a4279" /><Relationship Type="http://schemas.openxmlformats.org/officeDocument/2006/relationships/notesSlide" Target="/ppt/notesSlides/notesSlide1.xml" Id="R9ef7f47ef59b44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7429761774a56" /><Relationship Type="http://schemas.openxmlformats.org/officeDocument/2006/relationships/notesSlide" Target="/ppt/notesSlides/notesSlide2.xml" Id="R8951cbab3bf2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2b61913c4ecd" /><Relationship Type="http://schemas.openxmlformats.org/officeDocument/2006/relationships/notesSlide" Target="/ppt/notesSlides/notesSlide3.xml" Id="Rd21d6ec07b274d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ce60bd1d144d7" /><Relationship Type="http://schemas.openxmlformats.org/officeDocument/2006/relationships/notesSlide" Target="/ppt/notesSlides/notesSlide4.xml" Id="Rd5c568d623594f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5816fd8134360" /><Relationship Type="http://schemas.openxmlformats.org/officeDocument/2006/relationships/notesSlide" Target="/ppt/notesSlides/notesSlide5.xml" Id="R412a42b902c0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e174287a74bdb" /><Relationship Type="http://schemas.openxmlformats.org/officeDocument/2006/relationships/chart" Target="/ppt/slides/charts/chart1.xml" Id="R4a55e6fcaada4961" /><Relationship Type="http://schemas.openxmlformats.org/officeDocument/2006/relationships/notesSlide" Target="/ppt/notesSlides/notesSlide6.xml" Id="R354ad4826ef34a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a1c6521174d31" /><Relationship Type="http://schemas.openxmlformats.org/officeDocument/2006/relationships/notesSlide" Target="/ppt/notesSlides/notesSlide7.xml" Id="Rdbb37c8b87d5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cda07f894995" /><Relationship Type="http://schemas.openxmlformats.org/officeDocument/2006/relationships/chart" Target="/ppt/slides/charts/chart2.xml" Id="Recec1762ad9a48b9" /><Relationship Type="http://schemas.openxmlformats.org/officeDocument/2006/relationships/notesSlide" Target="/ppt/notesSlides/notesSlide8.xml" Id="R307e65e19ae14e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de69e77bb4aa6" /><Relationship Type="http://schemas.openxmlformats.org/officeDocument/2006/relationships/notesSlide" Target="/ppt/notesSlides/notesSlide9.xml" Id="R74e4f7ad0c6e49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b5d8d16974c33" /><Relationship Type="http://schemas.openxmlformats.org/officeDocument/2006/relationships/notesSlide" Target="/ppt/notesSlides/notesSlide10.xml" Id="R7d2d8291f38a4c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ade3fe2d24e38" /><Relationship Type="http://schemas.openxmlformats.org/officeDocument/2006/relationships/notesSlide" Target="/ppt/notesSlides/notesSlide11.xml" Id="R9f9ec54d3a434d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602574a5a4c1f" /><Relationship Type="http://schemas.openxmlformats.org/officeDocument/2006/relationships/notesSlide" Target="/ppt/notesSlides/notesSlide12.xml" Id="Rda038f32c92a4f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2164b55da4666" /><Relationship Type="http://schemas.openxmlformats.org/officeDocument/2006/relationships/chart" Target="/ppt/slides/charts/chart3.xml" Id="R06b5acca1d7a46ff" /><Relationship Type="http://schemas.openxmlformats.org/officeDocument/2006/relationships/notesSlide" Target="/ppt/notesSlides/notesSlide13.xml" Id="R60102e21977849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981c70a6a4161" /><Relationship Type="http://schemas.openxmlformats.org/officeDocument/2006/relationships/chart" Target="/ppt/slides/charts/chart4.xml" Id="R5c27939055424bbc" /><Relationship Type="http://schemas.openxmlformats.org/officeDocument/2006/relationships/notesSlide" Target="/ppt/notesSlides/notesSlide14.xml" Id="Rcad503491ee34c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64192e6b94f37" /><Relationship Type="http://schemas.openxmlformats.org/officeDocument/2006/relationships/notesSlide" Target="/ppt/notesSlides/notesSlide15.xml" Id="Rcb5e8d6c5d0547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1c76cc1b34d8a" /><Relationship Type="http://schemas.openxmlformats.org/officeDocument/2006/relationships/notesSlide" Target="/ppt/notesSlides/notesSlide16.xml" Id="Rd84db3fe316947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83dd0011b4b04" /><Relationship Type="http://schemas.openxmlformats.org/officeDocument/2006/relationships/notesSlide" Target="/ppt/notesSlides/notesSlide17.xml" Id="R4d598b95549549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9f5d9c92945db" /><Relationship Type="http://schemas.openxmlformats.org/officeDocument/2006/relationships/notesSlide" Target="/ppt/notesSlides/notesSlide18.xml" Id="Ra1b5e8efa9204a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ec33178c3467d" /><Relationship Type="http://schemas.openxmlformats.org/officeDocument/2006/relationships/notesSlide" Target="/ppt/notesSlides/notesSlide19.xml" Id="Rf3c43ff3be9d4cb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fee28b7364aa8" /><Relationship Type="http://schemas.openxmlformats.org/officeDocument/2006/relationships/notesSlide" Target="/ppt/notesSlides/notesSlide20.xml" Id="Rd242968284f04a5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f3257038b41a9" /><Relationship Type="http://schemas.openxmlformats.org/officeDocument/2006/relationships/notesSlide" Target="/ppt/notesSlides/notesSlide21.xml" Id="R0bd7ba2a362c499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285c3c87c44ea" /><Relationship Type="http://schemas.openxmlformats.org/officeDocument/2006/relationships/notesSlide" Target="/ppt/notesSlides/notesSlide22.xml" Id="Rcc87cb9b7f3141e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723de572048e6" /><Relationship Type="http://schemas.openxmlformats.org/officeDocument/2006/relationships/notesSlide" Target="/ppt/notesSlides/notesSlide23.xml" Id="R66df73276fca417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51488ac3e441e" /><Relationship Type="http://schemas.openxmlformats.org/officeDocument/2006/relationships/notesSlide" Target="/ppt/notesSlides/notesSlide24.xml" Id="Rc11c564f141d4e2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5b3ac096a4675" /><Relationship Type="http://schemas.openxmlformats.org/officeDocument/2006/relationships/notesSlide" Target="/ppt/notesSlides/notesSlide25.xml" Id="Rcba0c1e989de4ae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b3b4d918f4b22" /><Relationship Type="http://schemas.openxmlformats.org/officeDocument/2006/relationships/notesSlide" Target="/ppt/notesSlides/notesSlide26.xml" Id="R5bf9af5f5f04436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99c0a28a4490" /><Relationship Type="http://schemas.openxmlformats.org/officeDocument/2006/relationships/notesSlide" Target="/ppt/notesSlides/notesSlide27.xml" Id="R5c80462e56fd4a9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537bb022449e1" /><Relationship Type="http://schemas.openxmlformats.org/officeDocument/2006/relationships/notesSlide" Target="/ppt/notesSlides/notesSlide28.xml" Id="R51acfa4d24c04a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d309b5df84414" /><Relationship Type="http://schemas.openxmlformats.org/officeDocument/2006/relationships/notesSlide" Target="/ppt/notesSlides/notesSlide29.xml" Id="R7690d4db5adc449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ffb4e53bf45a8" /><Relationship Type="http://schemas.openxmlformats.org/officeDocument/2006/relationships/notesSlide" Target="/ppt/notesSlides/notesSlide30.xml" Id="R55ef76898a8b49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25e29635b4bca" /><Relationship Type="http://schemas.openxmlformats.org/officeDocument/2006/relationships/notesSlide" Target="/ppt/notesSlides/notesSlide31.xml" Id="R780ec87b169d424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5a977a8414519" /><Relationship Type="http://schemas.openxmlformats.org/officeDocument/2006/relationships/notesSlide" Target="/ppt/notesSlides/notesSlide32.xml" Id="R60fa05a16a19471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0eaaf43f48d1" /><Relationship Type="http://schemas.openxmlformats.org/officeDocument/2006/relationships/notesSlide" Target="/ppt/notesSlides/notesSlide33.xml" Id="Rb76eaa30b2b04a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35eea2c474d5b" /><Relationship Type="http://schemas.openxmlformats.org/officeDocument/2006/relationships/notesSlide" Target="/ppt/notesSlides/notesSlide34.xml" Id="R7cc483d6cc2b425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49e7ce164090" /><Relationship Type="http://schemas.openxmlformats.org/officeDocument/2006/relationships/notesSlide" Target="/ppt/notesSlides/notesSlide35.xml" Id="Rd2f4a4f519da4e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公司北美区域门店</c:v>
          </c:tx>
          <c:spPr>
            <a:solidFill xmlns:a="http://schemas.openxmlformats.org/drawingml/2006/main">
              <a:srgbClr val="009DAC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2025.06</c:v>
                </c:pt>
                <c:pt idx="1">
                  <c:v>2025.12</c:v>
                </c:pt>
                <c:pt idx="2">
                  <c:v>2026.06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394</c:v>
                </c:pt>
                <c:pt idx="1">
                  <c:v>461</c:v>
                </c:pt>
                <c:pt idx="2">
                  <c:v>536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美国玩具销售额增长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2025全年同比</c:v>
                </c:pt>
                <c:pt idx="1">
                  <c:v>2026上半年同比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0.06</c:v>
                </c:pt>
                <c:pt idx="1">
                  <c:v>0.17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Five Below净销售额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3.876527</c:v>
                </c:pt>
                <c:pt idx="1">
                  <c:v>4.764147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POP MART美洲收入结构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Data'!$A$2:$A$4</c:f>
              <c:strCache>
                <c:ptCount val="3"/>
                <c:pt idx="0">
                  <c:v>线上渠道</c:v>
                </c:pt>
                <c:pt idx="1">
                  <c:v>线下渠道</c:v>
                </c:pt>
                <c:pt idx="2">
                  <c:v>批发及其他</c:v>
                </c:pt>
              </c:strCache>
            </c:strRef>
          </c:cat>
          <c:val>
            <c:numRef>
              <c:f>'Chart Data'!$B$2:$B$4</c:f>
              <c:numCache>
                <c:formatCode>0.0%</c:formatCode>
                <c:ptCount val="3"/>
                <c:pt idx="0">
                  <c:v>0.64</c:v>
                </c:pt>
                <c:pt idx="1">
                  <c:v>0.328</c:v>
                </c:pt>
                <c:pt idx="2">
                  <c:v>0.032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B5579-5F9C-463E-9520-B9301476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8EDBE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8EDBE2"/>
                </a:solidFill>
                <a:latin typeface="Hiragino Sans GB"/>
                <a:ea typeface="Hiragino Sans GB"/>
                <a:cs typeface="Hiragino Sans GB"/>
              </a:rPr>
              <a:t>北美零售研究  /  DESK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C47B6-BAB0-4C3A-839C-73990F5B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北美生活方式零售公开资料研究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43F0E-531D-4F92-B469-376A50A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公开资料案头研究 · 美国 / 加拿大 / 墨西哥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4FA25-1307-47AE-9E37-F305FED3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事实核验、竞争诊断与定性定量衔接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D7D3-737D-4349-A282-0A1A4FE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资料检索截至 2026年9月9日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C4EDB-A353-43CD-BCCE-952F4616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817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6D5D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B6D5DF"/>
                </a:solidFill>
                <a:latin typeface="Hiragino Sans GB"/>
                <a:ea typeface="Hiragino Sans GB"/>
                <a:cs typeface="Hiragino Sans GB"/>
              </a:rPr>
              <a:t>独立作品展示；企业事实来自公开资料，配套虚构问卷用于展示研究设计，无实访数据。</a:t>
            </a:r>
          </a:p>
        </p:txBody>
      </p:sp>
    </p:spTree>
    <p:extLst>
      <p:ext uri="{BB962C8B-B14F-4D97-AF65-F5344CB8AC3E}">
        <p14:creationId xmlns:p14="http://schemas.microsoft.com/office/powerpoint/2010/main" val="1004678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CC81E-1F41-4FA0-90BC-60BF4713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执行摘要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D31D0-FFCD-4CD8-8797-79C10906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增长信号明确，优先验证“谁会买、为何复购、如何转化”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50638-321C-4DCA-8F7B-3519F7AD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经营信号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07CB-3829-491A-86B2-7D3C06E2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MINISO公司北美区域保持增长；扩店与同店经营需要分别观察。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38D74-50AC-4F0E-BBE3-79B6AAB2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机会线索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BF53A-026D-4ED1-8BFB-02D25FB9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IP、实用小件和赠礼可以形成不同任务，不能合并为一种“情绪消费”。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07878-BA95-4EB0-B5D7-7A5733F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决策路径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398B5-8AFC-4513-A70E-9BDFF770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先验证场景与阻碍，再决定品类、会员、渠道及门店试点。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E5730-EAEF-42FA-BE14-73DA986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59F43-BEA2-47E0-B903-D2E34F33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优先验证需求与可达性，暂不依据公开增速直接给出开店回报预测。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B49D0-315B-4807-ACA0-B58A2134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  ·  D04 Circana 2026-02-03  ·  D11 MINISO México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C798C-FF45-4FFC-BCF2-B009EEC3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082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FDF4F-0351-466F-84E9-61A9F1DF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6C0AD-6B72-47CF-A0BE-8AA40F11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同一张报告里，必须区分四类证据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76300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证据类型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采用方式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企业披露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核对报告期、币种、地区及指标定义；保留公司自述属性。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行业追踪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观察具体品类增量和反向证据，不能把玩具等同交叉市场。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消费者调查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记录国家、时间、样本和问题；意向不是已发生购买。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官网观察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核验功能入口和公开规则，不替代门店体验或成交数据。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654F-5DCC-446B-B02E-3535E943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13F0E-E57A-4AED-9C6E-16454DBB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推断和设计建议在页面标注；原始网页快照仅本地保存，来源链接及定位随报告交付。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E3100A-4211-47EC-82F7-991BB81F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  ·  D04 Circana 2026-02-03  ·  D06 Deloitte 2025  ·  D11 MINISO México 网页无明确发布日期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26DAD-A8C7-436C-97E7-C9C39CCE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8488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D2372-FB9A-4F60-9A2A-D4A0E6EB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范围与口径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E1FFF-027B-4229-BBC5-0D81A55C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本项目研究三国，公开财报却未必采用同一地区边界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76300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口径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本项目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美国＋加拿大＋墨西哥；分析和招募分别设基数。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MINISO财报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North America与Latin America分别披露；不将区域数据直接分配到三个国家。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MART财报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Americas涵盖更广的美洲经营范围，不能标成美国销售额。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竞争比较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不同财年、币种和渠道结构并列陈述，禁止简单拼成市场份额。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F0873-89FA-495A-BE2D-FA082B80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4CA12-8DD6-4DB5-99BE-DA51EC8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所有国家选择先按本地可达性、消费者场景和竞争替代评估。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38977-8CA8-4A11-92C0-B21C7B2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  ·  D03 POP MART / HKEX 2026-03-25  ·  D07 Dollarama 2026-03-24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99B0E-3131-4AD6-B0CB-28AB3882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517731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551C7-E153-4F9D-BD88-9D07391E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行业界定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D4366-2C34-4725-B175-2810F14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“平价 × 设计 × IP”适合做研究框架，不宜直接当作一个市场规模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24A2D-C2B6-4F29-9558-F7D9C172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生活用品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69C7F-00C0-4A6F-8E9A-B5D6BCC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以功能、补充、更换和便利性形成购买任务。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F2A9C-9598-468A-B64D-EF30445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礼品与社交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17A05-93F2-47C2-AB2D-49527DD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以收礼对象、预算、场合和表达心意形成选择。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B273-EE16-49E5-ACC5-AD4A9665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角色与收藏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CF126-6193-4D74-8599-3AE5723F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以角色喜好、系列、产品形态及随机机制形成参与。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D3113-D0EA-41BC-837B-40CE140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94D13-769D-4EAE-96BA-4B12DE7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同一件商品可跨越多个任务；定量用最近一笔交易和主用途归类，避免把玩具、杂货和赠礼规模相加。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E053E-6352-4B69-AC78-D4AAF24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D04 Circana 2026-02-03  ·  D06 Deloitte 2025  ·  D08 MINISO Canada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DFCA6-981E-45BA-9614-7D945B6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68880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6EF915-CB14-4D76-87CC-B4F430BC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521F2-CFBE-416E-AC34-724BEDAC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MINISO北美区域继续扩店，下一步要拆解新店与老店贡献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953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55e6fcaada496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FABD7-0B0F-40A8-88C0-EC4621F7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38D2C-03C5-4891-B8D4-41828EE7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门店数量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F6DD3-B728-458F-ADF0-6942248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2025年6月 394家；年末461家；2026年6月536家。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59EF5-73EB-4458-BA5C-257A0CD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同期经营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A65FA-1626-40CD-8506-EB1DD05A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05175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2026 上半年区域收入 +37.0%；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同店 GMV 中个位数增长。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9F4A2-9EAB-4278-BDEA-ABA541F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D7AD9-150F-4E63-BC8A-BD38BD2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拓店推动覆盖，但公开披露不足以分解客流、转化、客单和每店利润。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8BB03-ECA0-4D6A-888B-5EA1AB8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rPr>
              <a:t>资料：MINISO 2026半年报，附表第29页；为公司区域口径。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D0187-77A4-4FAB-8381-8602F026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614987-975F-447C-9A29-2D3C51FA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门店覆盖与消费者到店便利性应联合分析；不把扩店数直接解释成品牌偏好提高。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3CA00-CBF6-46AE-AC01-D7BFCCC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C0EAC-FE0E-44F3-AD36-D94D7E83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181118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09BA4-8A07-40DF-AE2D-42E65D8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47272-92E0-4A4F-BE09-A09E6F49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北美强势不能代替海外整体判断，会员销售占比也不是增量证明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9BD37-59B5-4A3A-A7D0-939DF06D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地区差异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0CC85-5A56-4641-9865-A438FAEF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公司海外整体同店GMV下降，与北美表现不同。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761DC-9EA1-4C3F-A009-C3A87A5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会员基础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71D90-8F60-4D2D-ADB7-65105CD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美国会员与会员销售贡献提供可研究的留存入口。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23823-D409-47A5-BE9A-9EAE76E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需要补充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B4969-50E9-4415-BC7A-593E2119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买家与非买家的选择原因、会员使用频率、促销依赖和首次/复购差异。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8ED88-8A2D-4806-BAF6-D9B4E585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F142B-D1BB-425F-AF2A-08B6C490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问卷以E12–E14补充频次和会员状态；用同国家、同活跃程度的分层比较，避免把相关关系写成因果。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EB393-9F86-4D44-A2F8-DFCB7C89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5E024-AE19-4038-8E84-69FF41F4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50524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B2442-223E-4136-BCD3-E26EF16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行业信号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F024EE-D586-4180-A797-8443589F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美国玩具需求在增长，但年度与半年同比必须分开读取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953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cec1762ad9a48b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2E26C-037C-4ED7-9AB9-8CE8EBF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同比；不同基期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A6885-CC7A-4F5C-BDDA-7DF7A215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2025全年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A26A7-CF18-4209-B3A1-432D5DD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销售额同比+6%；单位需求恢复。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609D5-446E-448B-AE83-677C6730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2026上半年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8AD43-C964-4A7E-BAAC-2625D610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05175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销售额同比+17%；销量与平均售价同时上升。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F55BA-08CB-4E37-A49D-2005692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解释边界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A4499-D690-4D4A-A719-3850AC63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这是美国玩具追踪口径；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不能当成 MINISO 全部商品、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北美三国或长期增速。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CB8C5-AB53-4CD1-B44A-2BFCFF92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rPr>
              <a:t>不同同比期间，非连续季度增长曲线；数据来自Circana两次原始发布。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699528-6AF5-4126-BEE3-8E457C5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77C92-D933-4719-A0ED-123D3931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将IP相关玩具作为值得验证的需求方向，同时保留实用商品与赠礼的对照。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50FAC-91D0-44AD-936C-AD0C289E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D04 Circana 2026-02-03  ·  D05 Circana 2026-08-12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BACFE-B8DD-4848-B36B-CC9CA1B9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34580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60194-727D-4BA0-ACBE-1892916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反向证据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D53E1-C7AB-4AD5-886C-7D4B00E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玩具增长集中：热门IP不能证明“所有毛绒都有机会”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95C9E-1711-4C3E-A13A-8EAFF87C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增量来源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5FE32-0609-4EBC-8F37-B4D0BE8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2025年三类超级品类贡献92%行业增量，增长分布并不均匀。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78A78-FA91-4B42-8AD5-AB5FA2AB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品类反例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E1CE-73E7-4C05-9002-465F6EDF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毛绒与娃娃在当年属于下滑较明显的品类。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5DF9B-A834-49D3-83EA-0F66F8E2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分析拆分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5E89B-F28D-422B-B0A8-862C5E5D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区分毛绒、搪胶毛绒、随机款、实用品及卡牌；再看角色、场景和购买频次。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D627D-5C5A-4CE7-9259-C817D5B1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F40C0-D9B7-4A0B-8FFC-710CB60A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I01–I10先测真实行为再问动机；不能先定义“IP爱好者”后只询问支持该假设的题。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6743E-998A-4D38-A8E5-CC4401B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D04 Circana 2026-02-03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2B0E-4CF3-4C1B-B92E-04D62F12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52751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05C34-3E96-47E7-BC03-C0A2BD6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需求边界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3A8DD-33F5-436A-BF82-F3AD0F2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成年人的参与值得研究，不能把家庭构成直接当成买家画像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028D7-4EF5-4803-8852-B488A42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授权需求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E0E4D-21E0-4296-817B-102ED8E9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2026上半年授权玩具增长快于玩具整体。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FD31D-9731-4942-9C52-084A877A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年龄口径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DE461-6EF4-42F5-9E2D-FAA7F45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成年收礼对象的销售增长，说明需求不局限于儿童。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E5DFD-7CDB-482C-8ED6-86FD7F58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本项目做法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61E4C-8868-41F9-A57A-77F4BCB0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分别记录购买者年龄、收礼/使用对象、同住儿童和购物任务。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C9ED9-5F8E-44B7-B149-FACDF7BC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52397-C330-4222-B74A-40E44249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A03、G02、D05拆开“谁买、给谁、家里有没有孩子”，不借别家的顾客画像替代MINISO用户研究。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496BE-9557-4AF2-B190-D4AEC8A3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D05 Circana 2026-08-12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CD5890-0AB4-4191-ACF2-EF511B7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43580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C13A8-092C-4147-B59F-C16C73FE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预算与赠礼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5D4A5-B48D-43BD-B78B-89B3A25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预算压力和送礼确定性并存，价值表达应同时解决两件事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68923-248E-4100-A5E8-A8E65A2B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预算侧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93082-69FB-421F-9419-742BAAF5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2025美国假日调查中，计划花费低于上一年。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BA709-D49F-432C-9C51-A608C272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赠礼侧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EED8E-E311-4139-817B-F1449AE1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愿望清单提供减少“买错”的线索。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9FC46-F0BB-4BE5-8099-72026A2F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待验证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C4266-2D6D-461C-8873-EA5CE57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低总价、喜欢的IP、实用性和退换便利，哪个更影响不同国家的选择？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6D6E0-2FAA-446B-9829-D37830A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26F32-3AB9-4BA5-98CE-4B6FE40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A10–A14测实际付价；G04–G06测赠礼选择与顾虑。历史美国假日意向不直接作为本项目市场预测。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7F523-9753-4B05-B613-22B0558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D06 Deloitte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B7DF1-CBBC-450A-B71C-A313801E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3424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815E2-A948-469F-B64E-718A22AA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竞争格局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01852-F66A-49F6-B45E-74E8EED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比较可替代的购物任务，比给所有品牌打一个综合分更有用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8215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对照任务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代表对象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应比较什么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平价实用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 / Dollarama / Dollarcity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功能小件、日常补充、可负担总价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IP与收藏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 / MINISO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角色吸引、收藏参与、上新与社群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生活与礼品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 / MUMUSO / 独立店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设计、赠礼、浏览发现与便利性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25FC2-57D0-4CB3-ABA1-B95EAE2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D6123-C770-4031-8614-FE0D1E4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这是基于经营类型的研究分组，不是经过消费者测量的定位图；品牌关系由B模块验证。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7CDA8-9669-44ED-B878-4F8FB3C4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D02 Five Below 2026-03-18  ·  D03 POP MART / HKEX 2026-03-25  ·  D07 Dollarama 2026-03-24  ·  D12 MUMUSO México 网页无明确发布日期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8AB05-A658-4501-BD97-1844A5F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3372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5CC05-1D5B-40D4-AACB-2FE8EE0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63D67-D30E-4539-8DDD-BF082368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Five Below说明“价值零售”仍能增长，但成功机制不能靠总收入反推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953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b5acca1d7a46f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44C85-E491-4F55-8725-EA3A539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十亿美元；FY2025截至2026.01.31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5EA8B-832A-4321-9436-AA335EDA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规模表现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DA24E-6A8B-4A53-99BF-A16695A8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FY2025 销售约 47.64 亿美元，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同比 +22.9%。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02205-A4FD-497F-B69C-8F46469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经营表现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5E32B-2835-44B0-BD31-F11A0D33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05175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同一财年可比店销售同比+12.8%。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DFF80-1C01-46D6-BB39-EA937FE0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C0768-62F5-4D56-8509-25B6C2C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比较消费者的预算、商品选择、渠道便利和逛店目的，不照搬竞品指标解释。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BC3BA-C290-4B45-B2B7-E5D4299A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rPr>
              <a:t>企业年度披露；并列数据用于理解竞争规模，不作为交叉行业市场总额。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D355E-8E0C-4B5B-A0BD-54994BE9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92C43-9B26-41AA-B89D-EED421E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B01–B07检验是否进入同一考虑集合；A09、B08/B09识别MINISO的转化障碍。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C5F7F-DD87-4E56-B025-16DFFDB3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D02 Five Below 2026-03-18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512FC-7B87-4298-9D21-3CD84A2E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25061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B2EDB-2159-4968-8E6C-8641E1D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35C6B-08A0-43BC-A4AD-C60242AB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POP MART的美洲增长包含强线上渠道，不能只学实体店陈列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1847850"/>
          <a:ext xmlns:a="http://schemas.openxmlformats.org/drawingml/2006/main" cx="69532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27939055424bb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EBBB5-29F6-401A-8F90-67328467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685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2025；Americas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9B03B-F53E-4A70-BF4C-5CDDC180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渠道结构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C3FAE-F684-4BDB-B14C-0A1413EF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 年美洲收入：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线上 64.0%、线下 32.8%，</a:t>
            </a:r>
          </a:p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批发及其他 3.2%。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23F96-5B11-414A-B00E-02570AE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432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扩店同时发生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8BA3C-621D-4EB2-A9BF-B54FB21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05175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该地区实体店由22家增加到64家。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14185-DF1C-4022-A35E-5DF38B4E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7670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对研究的启发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1734A-3260-4023-B7FE-B47B4B1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476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分开触达内容、官方下单、实体体验与收货使用，寻找真正影响选择的环节。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4EF96-152B-4881-BE62-1D0BF1F8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685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A75"/>
                </a:solidFill>
                <a:latin typeface="Hiragino Sans GB"/>
                <a:ea typeface="Hiragino Sans GB"/>
                <a:cs typeface="Hiragino Sans GB"/>
              </a:rPr>
              <a:t>POP MART 2025年度业绩第31页。各渠道合计100%；不是美国电商市场份额。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678FF-1DD6-4908-8CE3-2AC522A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5B6A9-0740-4E9A-B669-830D8421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E03–E09区分线上与线下体验；A08记录信息路径，避免把“看过社交内容”直接算成销售归因。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CE60B-810E-455B-85E8-08C50BBC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D03 POP MART / HKEX 2026-03-25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B42A6-1217-4650-BED8-0B476871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98101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9BA76-84DB-4389-B07E-A200F6F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5660D-4E44-41ED-9332-6B6D2CBF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Daiso和Dollarama提供价格与便利性对照，而不是可直接复制的定价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3EFD3-FFF9-49FE-A5F7-7DB5E301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Dollarama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76E48-FD42-42EC-BC34-01F05034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加拿大门店网络和公开价格范围，可作为当地低价认知的对照。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0D4DD-F217-4F1C-A810-405CF7A1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Daiso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58B78-B2FD-4485-B07D-AEBED54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美国线上商店存在明确服务区域限制，实体与线上可达性需分开审查。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A77A4-5461-458B-A80D-4A450ABE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对本项目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3E6EA-D039-4AFE-8B09-B980C90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同款/同用途、规格、税费和购买渠道一致，才能进行SKU价差比较。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C4F25A-469A-4859-8B60-D213A44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35C7F-6E96-4A5B-9912-2215555F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本轮不制造跨币种价格指数；先用A10–A14建立交易口径，再补充匹配SKU价格审计。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5849-6754-4518-9868-DD5689F8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D07 Dollarama 2026-03-24  ·  D09 Daiso USA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A72E0-ADC9-47D6-A6E2-D590B95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828631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7847B-D65D-46FF-BC45-146D41D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美国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99680-DB63-4445-9620-8CD6568A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美国先检验“主动到店”与“顺路逛店”，再决定门店体验投入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111CC-DAAA-46CB-9550-44CF9A15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已知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864F5-90ED-4287-9B61-168F582E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MINISO有本地门店查询入口及美国会员经营披露。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B6EC5-CBE7-4B2E-82AA-6F12EEFE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尚不知道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2F7C4-29EB-4726-B459-BEB31B5E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商圈内实际可达率、顾客到店目的、未成交原因和店型效果。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EE8D8-908A-4F51-B331-29F0765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4343A-BBBD-4F5C-83FC-F0A04F5A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店内陪访观察发现与选择过程；B02/03看访店和购买关系，E15/E16记录地点与专程性。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741F4A-264D-4193-8E13-018DA1A2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8FB54-EA0C-4FEC-83F9-E900F72C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若主要流失来自可达性，优先渠道覆盖；若来自商品或结账，优先店内改进。两条路径需要不同证据。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273AE-688B-4CDD-89E4-18FD376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  ·  D10 MINISO USA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718B8-230A-4708-9A54-54716F34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77188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F97CC-9B0E-45B1-B065-594DC7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加拿大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BAAD0-5BA9-47DD-9F42-1A14DFA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加拿大需要把语言、地区和配送入口拆开验证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201F3-6DE1-462F-82CA-207FBCDC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已知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8D76A-4F9D-4691-8739-56B4F290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官网展示合作系列，并提供奖励计划、门店查询与</a:t>
            </a:r>
          </a:p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DoorDash 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9627A-DA80-430C-9792-36B5042D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55A11-B915-4275-8CA6-CB5B799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Dollarama是有广泛门店网络的本地价值零售对照。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50C6E-6298-4698-B114-F8867D77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E6AF59-0486-4CF0-BBB7-C9994E83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英语和法语审校，按州省回圈地区；区分能看到入口、当地可用与真正完成交易。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F2C84-E171-427B-A91C-6695D3F5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72F19-33A6-4D03-A953-FF7F4565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不能因有配送入口就假定全国覆盖；优先检查所在地库存、费用与到手体验。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A43CF-0C79-4C38-BED4-13F556E2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D07 Dollarama 2026-03-24  ·  D08 MINISO Canada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248A7-F686-43F0-8D25-4CBA6DAC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91656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5E351-3101-4F5F-8C1C-E4BAC536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墨西哥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5D896-9062-4867-9517-B072E0C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墨西哥的付款与取货选择，要作为完整旅程的一部分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40BE2-AA75-46B3-B7AF-7CB7DBEB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已知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318D9-DECD-41F9-82A0-7345CFE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MINISO官网说明宅配、自取及多种付款方式；自取取决于附近库存。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0082C-6C95-483C-8CBC-88CCAAD2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494F1-5E73-43FF-89E1-95CDA245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Dollarcity 已进入墨西哥；</a:t>
            </a:r>
          </a:p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MUMUSO 存在本地门店目录。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DCA0E-2EC6-40CB-8F15-54893687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62FEE-57E3-44AA-A47A-6EF0D749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本地西语问卷；陪访跟踪选品、付款确认、取货/收货和问题处理。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ACECD-55AC-4551-B553-753AC859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FECC3-7C81-448B-94D7-0C46512E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先定位“知道商品但未完成交易”发生在哪一步，不能直接把它解释为品牌吸引力不足。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ADF2B-D408-4FB5-BC12-513D6E4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D07 Dollarama 2026-03-24  ·  D11 MINISO México 网页无明确发布日期  ·  D12 MUMUSO México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EA3BC-FEF7-4B90-8901-AF42699C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165033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D4172-C949-4DD7-919F-6616D4F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渠道诊断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CA20F-6B30-4521-B6E6-CAC451D0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从看到商品到收到商品，至少有五个不同的问题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5476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本次测量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分析原则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在哪看到 → A06/A08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区分接触与实际影响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为什么选择 → A09/B08/B09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质量、价格、IP与便利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交易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在哪付款 → A07/E03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区分逛店与购买渠道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履约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怎样收到 → E04/E07/E08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库存、时效、费用和实物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留存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是否再买 → E10/E12/E13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意向、实际频次及会员使用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29A46-9D1D-4C19-8824-3D42DB42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C0C1C-A5B9-4D5B-83F9-3C794D64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各环节的分母独立：经历过才评价；没有经历不填中性或最低分。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07593-B376-4BF7-A473-4A9DE2FF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1C61C-1A30-498B-9D7F-7326C21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418209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267EA-F9CE-4B41-967E-783C9E85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商品与价格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49C61-4EC3-40E3-B563-17C11884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需要验证的是“何种价值值得付钱”，不是统一的低价标签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55A93-67C3-4E06-8E9E-612B7FC9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交易金额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83302-B1F4-4A32-979F-6F3D88E6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记录最近一笔交易、币种、折扣和税费；精确金额与区间分开。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B542C-0A19-4A6E-9EDB-85C6415C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感知价值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DFB5D-1FEE-48DB-9F3B-23985582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对抽中的已知品牌评价价格与值不值得；不假装这是匹配具体商品后的实际价差。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8D438-CB56-4725-B9BF-BD19C80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定价试验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056E3-E812-4B8C-9418-48E457DB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确定具体品类、规格、IP和成本后，再进行同刺激的价格实验。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82D7A-BDB9-4A93-BD1A-9643FC64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1CD91-1A9A-4B2C-A231-25D5A5D0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目前没有充分的同SKU、同税费、同渠道样本；本报告不输出伪精确最优价格或TAM。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3F554-7192-40B4-A7A7-F6979E1E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D07 Dollarama 2026-03-24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1DDFC-D70A-478E-8931-C72C6AA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346126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D3664-C2B3-4DF0-806E-33B051AB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IP机会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FF81C-227C-499C-BD22-7E966628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把“喜欢角色”拆成可执行的商品问题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E8FE3-53E6-4E63-AA43-23870D6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角色关系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69799-D636-4799-97F8-999D9D46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长期喜欢、近期关注、初次见到、为别人购买 → I04。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010B1-819C-43A8-BE5B-C5776C06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产品形态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B27BE-3536-4FFF-A366-8E82BFF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毛绒、搪胶、可选款、随机款与实用品 → I03/I08。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D0C2-810F-4BE9-96FB-BAC62CA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复购机制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9BA00-4FDA-4B5D-8136-D54C8DC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持续喜爱、新款、集齐、赠礼、便利和优惠 → I06。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A67D9-9EAA-4E93-83D3-2EB869EC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48515-D807-48A1-ACDF-9C748ED7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定性先理解角色与商品的关系；定量再比较不同购买状态，不以热门单一IP代替整体判断。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76DBC-7301-4F5E-AF9F-C7DB0497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D04 Circana 2026-02-03  ·  D05 Circana 2026-08-12  ·  D08 MINISO Canada 网页无明确发布日期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1B33-838C-4F5A-9223-0BC22687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719697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CDB3A-9EE4-42DF-B879-B8ADF641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赠礼机会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8E6F1-15FE-487F-BFD7-94C3E955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降低“买错礼物”的不确定性，可能比增加IP数量更重要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F973E-E018-4A7F-BEC5-FE64903B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对象与场合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E74CD-5CFD-4DF3-8868-DB9AB10A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给谁、何时送、是否有愿望清单 → G02/G03。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8DD08-8A73-4F40-8B0C-6E4E33AC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选择标准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E2380-5961-46FA-A70C-0B9C45DA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兴趣、实用、体面、预算、包装、到货时间 → G04。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1301-CC37-4884-9291-AD357D73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风险与支持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5EEE5-DCE1-4AF5-A51F-4E1780A1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不合喜好、重复收藏、售后和包装 → G05/G06。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D089C-1405-468B-A6E7-05B5C9CB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F5D2E-34E4-4DC0-AA58-BCB557F3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这是待验证的机会判断：先比较痛点，再设计按预算/兴趣推荐、礼盒或退换支持试点。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566AE-C797-412A-A580-1E9E8948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D06 Deloitte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98925-DA86-48BA-84F0-4D3AC2A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265913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C0C23-F1A7-4937-AA8A-5130610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体验与会员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3FCAA-AC20-4E5F-85B5-657B7DBF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会员试点的评价应包含增量行为，而不是只看加入人数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44B9-23CA-46A7-9B38-E67D858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招募口径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B166E-F90E-4077-8E4B-A4064F5A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区分会员使用者、已加入未使用、非会员与不了解者。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766F0-C010-47EB-A22D-BA00BDC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体验口径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BC772-8C7D-45F9-8D4E-E51841AF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整体NPS在具体触点评分前测；缺失和不适用单独保留。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1881-B4F4-447B-8F01-9D169391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试点口径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D38B4-4922-436A-AF28-7DF85E32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观察复购、贡献毛利、促销依赖及投诉，不仅观察会员注册。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DA195-ACC5-4A31-B28F-4059CAD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2E67-1744-4D45-AF60-B22A3BBF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E00–E16形成体验基线；要判断会员活动的因果效果，另做随机或可比对照的运营试点。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95C29-BDA2-49DD-AD61-06966C8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D01 MINISO 2026-08-28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37885-514B-457E-94CB-7BD4606D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535611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285F5-32D0-4A19-B845-3B2B707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人群与场景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14654-F6C7-469C-BD8E-B683F8BF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先把场景作为假设，不给尚未调查的人群标占比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13473-CE3F-486E-B303-B67D2314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实用补充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FEECF-A97B-42C4-B068-7D683056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解决具体需要，关注总价、品质与便利。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E3E4-A76E-4A21-AFEF-F655F0F9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自我表达与收藏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D7CC4-F503-4ACB-A694-BACB48DB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关注角色、设计、新款或系列完整。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D9E9A-9C05-4C07-8F01-341BD25F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轻松赠礼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774E8-768B-4E7A-A8AF-7FC3D8E1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关注对象适配、预算、包装和交付确定性。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DAF76-31C8-4BAE-B3D4-FEBEECE4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69F5B-6570-4227-A295-C8A23801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N01/N02与实际行为联合分群；保留重叠与跨场景切换，不提前给“悦己族”“收藏党”贴定论标签。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C5D0D-E36E-45E2-82CD-9A064929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22353-0445-4FB5-8C04-A9F1B03F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160448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F21C4-41C1-4CB5-B59F-D7A20825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机会优先级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B5F1-85A9-469C-955B-8E68AA54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先做可验证、能改变决策的研究，再做高投入试点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8215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优先级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执行理由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第一优先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品类×场景与转化障碍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直接决定商品和渠道重点；用访谈、购买回溯和漏斗验证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第二优先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角色商品与赠礼支持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需要具体产品和本地语义；用概念筛选与小规模测试验证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第三优先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大店与会员的增量回报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需要客流、成本与交易数据；案头及意向调查无法单独回答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7D36C-1E99-44EA-8D07-94C02FE9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52C0-DA0D-4DA4-8929-286F4779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排序为本项目研究建议，依据决策影响与当前证据缺口；不是测量得到的机会分数。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83090-EE0C-4DAF-A42E-7C9D491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F3A50-1677-491E-973D-163E59A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626753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9AA51-F541-4158-820F-894A0636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6F006-7128-436A-A056-F1147FA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每个机会假设都设置可能推翻它的证据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假设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待验证判断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反证与动作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H1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IP吸引能带来新增购买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若购买仍主要由实用/价格决定，且非买家对IP反应低，应缩小IP主张适用人群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轻松赠礼能提高考虑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若对方适配和包装并非主要障碍，或主张不比实用版本好，则不优先投入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H3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渠道便利是关键流失点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若可达性高而质量/款式拒绝突出，应转向商品改进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会员与复购有关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若控制国家/购买频次后关系弱，不能将高会员贡献当成留存效果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A2C13-A6FB-4868-9FA8-7ACCADDB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567CE-1E59-4B82-A3AB-4EC143F3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访谈主动追问失败经历和替代选择；报告保留与主假设相反的结果。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516CC-9B96-4AF8-9A55-897BFAA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5939F-CB96-40C3-B2F7-E6C5CC8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614368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9B0F5-6F7E-46D8-9BCC-BA64AB30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定性设计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3EC9C-8CEA-462B-911A-D010EA94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先用真实购物经历理解机制，再把语言和选项带入问卷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8A7F1-9D7F-458F-BB09-77DB921D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消费者IDI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7B094-91E7-473F-9D75-461C1D6F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拟36场×75分钟；每国12场，覆盖MINISO活跃/低频/非买家，年龄和IP参与交叉配置。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497E8-5C0C-4185-B88B-C370C3F9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购物陪访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3EA64-D4CF-47EF-8A20-808D63CB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拟18场×60分钟，作为IDI子样本；记录从入店/开页到放弃或付款的具体过程。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42F4C-249F-4C81-9113-446B88C7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28825"/>
            <a:ext cx="3397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专家与内部访谈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85003-1DF2-4958-9EF4-3E88DE91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86050"/>
            <a:ext cx="334962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拟6场渠道/品类专家、8场运营相关访谈；核对可执行选项、成本和门店条件。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D324A-8D65-49F0-95C6-B1E8ACF5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ED646-A9DE-4D25-84FA-E900D596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为设计数量，尚未实访。样本按信息覆盖选择，不把定性样本数写成定量代表性。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7EF52-3175-4FA6-991B-53080F1D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DF1D8-5EC6-4FB9-BC05-8AC82DED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013141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AFF54-B2E6-47A5-8B69-F3D02BBA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定性提纲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A017B-381A-4AA1-85CE-736E78C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深挖决策过程，要围绕具体一次经历追问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76300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核心追问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回溯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最近一次买了什么、给谁、先发生什么、还考虑过什么？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替代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如果没在这家买，最可能去哪里？哪一步会让你放弃？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是什么让你觉得值得或不值？比较的是金额、品质、角色还是方便？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试探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三种主张分开出示；先自由理解，再问吸引、疑虑和实际使用场景。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DE68B-A0F6-4597-8103-3D960140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11A1F-2E4A-4A71-B8AF-EC3D4B5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追问具体行为和例子，不先告诉对方“情绪消费是趋势”；访谈中新增选项经版本复核进入量化。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F0AE2-F991-43F8-9F29-62239E93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3AC54-1127-4DAB-B09F-2C41B25D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568743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84592-DBAE-4709-A243-9119622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定量设计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D044F-892C-4628-A1CD-9B53A017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基础样本与购买者加样分工明确，避免把加样当成市场渗透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市场/层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设计样本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分析职责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基础1200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三主张各约400；年龄分层配置并披露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三主张各约200；英语/法语均需测试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基础600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三主张各约200；完整州省编码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各国最多200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仅MINISO近6月购买者诊断，不进入基础漏斗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5C301-08C0-4920-A6CF-61F36A63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317B4-FC66-4F1E-BB54-F74D075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全部为拟议非概率在线样本；主张比较受随机分组支持，目标总体推断仍受招募覆盖限制。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51C51-5FC1-4600-8A90-412E1ADB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2EBE1-394B-421E-BC48-CF0DDCC6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695963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CAF86-E80C-4BB9-BB38-A3BA496D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问卷交接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D5580F-1AB2-4F28-BCB5-702AB9E7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新版主稿把商业问题落实到具体测量与分析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5476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商业问题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题号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可产生的分析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增长与竞争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U01/U02、B01–B14、BI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无提示、知晓、访问、购买、考虑、首选及品牌感知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品类与场景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A01–A15、N01/N02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最近购买、价格口径、需要和选择优先级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体验与复购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E00–E16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NPS、触点资格、问题处理、会员和实际频次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IP与赠礼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I01–I10、G01–G07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参与、形态、首购/复购、顾虑及礼物适配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主张筛选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HC01、C01–C05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均衡随机分配、理解、考虑和拒绝理由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5489F-B180-421B-A061-1493112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AC3BC-48A9-43B9-9F3E-AA3B5B9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主稿、520个回答变量及9个开放编码框架同版本交付；规则通过不代表已完成实访。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73AF7-5483-48CD-934D-323A0A4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FE569-5B9C-4C67-9668-F805998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669593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779AA-7183-4D75-B5E7-89DA97C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试点设计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F3B8B-CD2C-40B4-AC1F-9BD6080A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三个同条件主张先筛方向，再决定是否进入产品与门店实验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82153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主张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变化点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保持条件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实用设计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强调使用场景与设计合意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其余预算、价格标示及商品范围保持一致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角色表达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强调喜欢的角色与特色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不加独占IP、限量等额外刺激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21531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轻松赠礼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强调收礼人的兴趣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不额外提供折扣或免费配送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0619-6CCA-4543-B241-8DB9EA0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736BD-47DD-4643-AF6E-7562CDC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C03为主要意向指标；n400/组与n200/组仅能识别约10/14个百分点量级差异（设计近似、未校正多重比较）。结果不能直接换算销量。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D0910-8221-4172-88A9-4D2ADE6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F9B2-072E-45A3-AFB8-B16BB603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739321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78F29-93ED-4A36-9BE2-52F2FA8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质量与落地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66D82-6B15-4796-9AA5-7256DC8E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先完成本地化与软启动，再进入全面采集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76300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放行要求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语言和清单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US英语、CA英语/法语、MX西语；品牌、州省、币种及术语核对。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程序联调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测试跳转、带入、回退重算、随机、缺失、退出和多设备续填。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认知与负担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拟12场认知测试、60份软启动；核对理解及实际模块时长。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正式报告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披露基数、权重、缺失、筛除和不确定性；事实、推断及建议分开。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182D4-1F59-46E8-B4EF-243A29C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8F4BE-4742-4CDE-9231-713B8566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如果主稿负担过重，按设计重分深诊模块与样本；同步重算分析基数，不只删题以满足一个时长。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D6D1A-1581-4C84-B10E-5EA3264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188D1-2099-4C3F-899E-C9518E94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1310604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F649B-B032-48BC-94A4-1C51D18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证据缺口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54F94-077C-461F-9C14-A1278634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当前最重要的缺口，决定下一轮验证优先级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143250"/>
                <a:gridCol w="6191250"/>
              </a:tblGrid>
              <a:tr h="6572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缺口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当前限制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后续证据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三国真实需求规模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无统一交叉市场口径、无同口径支出及人口覆盖数据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不发布TAM；以目标品类调研与统计基准另建模型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本地竞争与价格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官网入口不是门店审计，缺匹配SKU和税费数据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按城市/渠道建立价格与库存样本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顾客与经营机制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没有实际访谈、问卷、交易或门店成本数据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不能给消费者占比、真实NPS、最优店型或ROI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因果效果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企业增长与热门IP不能证明某个动作有效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在研究筛选后设计对照试点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82688-DD89-4C6F-AA9C-08A45C1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7AD85-4F53-4003-A295-BBF068FB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这些缺口随交付明确记录；没有用推测值补成完整图表。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F975A-EB4C-4742-A8D9-68D0410A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研究设计与执行建议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DF44B-51EB-4AEA-9D4A-8A0EA7F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255015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FD440-B926-4B2C-AFB0-2C330FC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290E2-A406-4685-A840-03244FE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公开资料来源 1–6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191000"/>
              </a:tblGrid>
              <a:tr h="46944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编号/发布者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原始资料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时间与口径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D01 / MINISO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 June Quarter and Interim Results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2026-08-28；2026上半年；公司区域和集团口径；未经审计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D02 / Five Below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Fourth Quarter and Fiscal 2025 Financial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2026-03-18；FY2025截至2026-01-31；美元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D03 / POP MART / HKEX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Annual Results for the Year Ended 31 December 2025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2026-03-25；2025自然年；Americas，不等于美国或本项目三国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D04 / Circana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U.S. Toy Industry Returns to Growth in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2026-02-03；美国玩具Retail Tracking Service；2025同比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D05 / Circana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 Toy Industry Posts Strongest First Half in Six Years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2026-08-12；美国玩具2026年1–6月同比；页更新8月13日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D06 / Deloitte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 Holiday Retail Survey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2025；美国在线调查n=4270，2025-08-27至09-05；计划花费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C964F-60C6-4396-9293-D459A4BE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48CBC-E2A8-4733-9A14-B485DEB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点击幻灯片备注中的原始链接；完整URL、正文哈希与断言定位见随附sources.json及claims.json。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662A0-ACDC-421A-B616-B1CA7A75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资料检索截至 2026-09-09；完整链接与口径见幻灯片备注及 sources.json。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F3E8-87EB-415A-8594-185467E4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1386705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B6474-1B5C-4BD8-B1E3-4334BC45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5552F-1C5F-495D-A7BF-85EE95F1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"/>
            <a:ext cx="1104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53B4F"/>
                </a:solidFill>
                <a:latin typeface="Hiragino Sans GB"/>
                <a:ea typeface="Hiragino Sans GB"/>
                <a:cs typeface="Hiragino Sans GB"/>
              </a:rPr>
              <a:t>公开资料来源 7–12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809750"/>
          <a:ext xmlns:a="http://schemas.openxmlformats.org/drawingml/2006/main" cx="11049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667250"/>
                <a:gridCol w="4191000"/>
              </a:tblGrid>
              <a:tr h="46944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编号/发布者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原始资料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时间与口径</a:t>
                      </a:r>
                    </a:p>
                  </a:txBody>
                  <a:tcPr marL="91440" marR="91440" marT="45720" marB="45720">
                    <a:solidFill>
                      <a:srgbClr val="163E50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D07 / Dollarama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Investor Presentation Q4-FY2026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2026-03-24；加拿大截至2026-02-01；Dollarcity截至2025-12-31；封面年份笔误与内文需区分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D08 / MINISO Canada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Canada official homepage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网页无明确发布日期；官网功能和系列入口快照，非销售数据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D09 / Daiso USA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FAQ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网页无明确发布日期；美国线上商店服务限制；页面包含批量线上业务语境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D10 / MINISO USA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Find a 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网页无明确发布日期；门店查找入口，动态门店列表未完整读出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D11 / MINISO México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Preguntas Frecuentes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网页无明确发布日期；官网购买、付款、配送和门店自取说明；非履约实测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6944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D12 / MUMUSO México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Directorio de Tiendas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网页无明确发布日期；墨西哥门店目录存在性，非市场规模或份额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6BA5E-0604-4AA3-BFD1-22255626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34025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F60DF-00A1-437F-9A18-95F2FA6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B4D"/>
                </a:solidFill>
                <a:latin typeface="Hiragino Sans GB"/>
                <a:ea typeface="Hiragino Sans GB"/>
                <a:cs typeface="Hiragino Sans GB"/>
              </a:rPr>
              <a:t>点击幻灯片备注中的原始链接；完整URL、正文哈希与断言定位见随附sources.json及claims.json。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5077A-8892-4CFA-98A2-D4B4CE9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008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资料检索截至 2026-09-09；完整链接与口径见幻灯片备注及 sources.json。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80C9A-17C7-4E0A-8829-3CBA5AE3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81775"/>
            <a:ext cx="419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57B85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802505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2026-09-09T12:50:05.9910000Z</dcterms:created>
  <dcterms:modified xsi:type="dcterms:W3CDTF">2026-09-09T12:50:05.9910000Z</dcterms:modified>
</coreProperties>
</file>